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47792618374248" /><Relationship Type="http://schemas.openxmlformats.org/officeDocument/2006/relationships/extended-properties" Target="/docProps/app.xml" Id="R1ffcd256edb14287" /><Relationship Type="http://schemas.openxmlformats.org/officeDocument/2006/relationships/officeDocument" Target="/ppt/presentation.xml" Id="Rc8d3001fbed946f3" /></Relationships>
</file>

<file path=ppt/presentation.xml><?xml version="1.0" encoding="utf-8"?>
<p:presentation xmlns:p="http://schemas.openxmlformats.org/presentationml/2006/main">
  <p:sldMasterIdLst>
    <p:sldMasterId xmlns:r="http://schemas.openxmlformats.org/officeDocument/2006/relationships" id="2147483648" r:id="R16b243c4caa64c89"/>
  </p:sldMasterIdLst>
  <p:notesMasterIdLst>
    <p:notesMasterId xmlns:r="http://schemas.openxmlformats.org/officeDocument/2006/relationships" r:id="Ra3701e4d94da46c7"/>
  </p:notesMasterIdLst>
  <p:sldIdLst>
    <p:sldId xmlns:r="http://schemas.openxmlformats.org/officeDocument/2006/relationships" id="256" r:id="R855e2d8d27be46c6"/>
    <p:sldId xmlns:r="http://schemas.openxmlformats.org/officeDocument/2006/relationships" id="257" r:id="R05151012eea640c3"/>
    <p:sldId xmlns:r="http://schemas.openxmlformats.org/officeDocument/2006/relationships" id="258" r:id="R7187fef66cca4359"/>
    <p:sldId xmlns:r="http://schemas.openxmlformats.org/officeDocument/2006/relationships" id="259" r:id="R024372f63d6a4164"/>
    <p:sldId xmlns:r="http://schemas.openxmlformats.org/officeDocument/2006/relationships" id="260" r:id="Rabfb0ad4947d4c02"/>
    <p:sldId xmlns:r="http://schemas.openxmlformats.org/officeDocument/2006/relationships" id="261" r:id="Ra659d66de3ce427c"/>
    <p:sldId xmlns:r="http://schemas.openxmlformats.org/officeDocument/2006/relationships" id="262" r:id="R44d709b7993a41a8"/>
    <p:sldId xmlns:r="http://schemas.openxmlformats.org/officeDocument/2006/relationships" id="263" r:id="Rd986a8fdb454469c"/>
    <p:sldId xmlns:r="http://schemas.openxmlformats.org/officeDocument/2006/relationships" id="264" r:id="Rbf91dc6f950e4282"/>
    <p:sldId xmlns:r="http://schemas.openxmlformats.org/officeDocument/2006/relationships" id="265" r:id="R7301caa67d704f70"/>
    <p:sldId xmlns:r="http://schemas.openxmlformats.org/officeDocument/2006/relationships" id="266" r:id="R12f9f50b31a34cb1"/>
    <p:sldId xmlns:r="http://schemas.openxmlformats.org/officeDocument/2006/relationships" id="267" r:id="R714fca7a921a40f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942689c3404a79" /><Relationship Type="http://schemas.openxmlformats.org/officeDocument/2006/relationships/slideMaster" Target="/ppt/slideMasters/slideMaster1.xml" Id="R16b243c4caa64c89" /><Relationship Type="http://schemas.openxmlformats.org/officeDocument/2006/relationships/notesMaster" Target="/ppt/notesMasters/notesMaster1.xml" Id="Ra3701e4d94da46c7" /><Relationship Type="http://schemas.openxmlformats.org/officeDocument/2006/relationships/presProps" Target="/ppt/presProps.xml" Id="R8cf1a5df303946c1" /><Relationship Type="http://schemas.openxmlformats.org/officeDocument/2006/relationships/tableStyles" Target="/ppt/tableStyles.xml" Id="R5c2ef4285a3d4773" /><Relationship Type="http://schemas.openxmlformats.org/officeDocument/2006/relationships/slide" Target="/ppt/slides/slide1.xml" Id="R855e2d8d27be46c6" /><Relationship Type="http://schemas.openxmlformats.org/officeDocument/2006/relationships/slide" Target="/ppt/slides/slide2.xml" Id="R05151012eea640c3" /><Relationship Type="http://schemas.openxmlformats.org/officeDocument/2006/relationships/slide" Target="/ppt/slides/slide3.xml" Id="R7187fef66cca4359" /><Relationship Type="http://schemas.openxmlformats.org/officeDocument/2006/relationships/slide" Target="/ppt/slides/slide4.xml" Id="R024372f63d6a4164" /><Relationship Type="http://schemas.openxmlformats.org/officeDocument/2006/relationships/slide" Target="/ppt/slides/slide5.xml" Id="Rabfb0ad4947d4c02" /><Relationship Type="http://schemas.openxmlformats.org/officeDocument/2006/relationships/slide" Target="/ppt/slides/slide6.xml" Id="Ra659d66de3ce427c" /><Relationship Type="http://schemas.openxmlformats.org/officeDocument/2006/relationships/slide" Target="/ppt/slides/slide7.xml" Id="R44d709b7993a41a8" /><Relationship Type="http://schemas.openxmlformats.org/officeDocument/2006/relationships/slide" Target="/ppt/slides/slide8.xml" Id="Rd986a8fdb454469c" /><Relationship Type="http://schemas.openxmlformats.org/officeDocument/2006/relationships/slide" Target="/ppt/slides/slide9.xml" Id="Rbf91dc6f950e4282" /><Relationship Type="http://schemas.openxmlformats.org/officeDocument/2006/relationships/slide" Target="/ppt/slides/slide10.xml" Id="R7301caa67d704f70" /><Relationship Type="http://schemas.openxmlformats.org/officeDocument/2006/relationships/slide" Target="/ppt/slides/slide11.xml" Id="R12f9f50b31a34cb1" /><Relationship Type="http://schemas.openxmlformats.org/officeDocument/2006/relationships/slide" Target="/ppt/slides/slide12.xml" Id="R714fca7a921a40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03b5ab51fb4e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6fa014b4ee4c23" /><Relationship Type="http://schemas.openxmlformats.org/officeDocument/2006/relationships/notesMaster" Target="/ppt/notesMasters/notesMaster1.xml" Id="R5ea3f756813049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507c09a2144d36" /><Relationship Type="http://schemas.openxmlformats.org/officeDocument/2006/relationships/notesMaster" Target="/ppt/notesMasters/notesMaster1.xml" Id="R16f1f0aac09e43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6030b5d3824efa" /><Relationship Type="http://schemas.openxmlformats.org/officeDocument/2006/relationships/notesMaster" Target="/ppt/notesMasters/notesMaster1.xml" Id="Rcc9482c98a45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577644f76b45ca" /><Relationship Type="http://schemas.openxmlformats.org/officeDocument/2006/relationships/notesMaster" Target="/ppt/notesMasters/notesMaster1.xml" Id="Rc0f07c42659942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1d23528ea54799" /><Relationship Type="http://schemas.openxmlformats.org/officeDocument/2006/relationships/notesMaster" Target="/ppt/notesMasters/notesMaster1.xml" Id="R0113b6a42d7c42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8ace03457b4cd6" /><Relationship Type="http://schemas.openxmlformats.org/officeDocument/2006/relationships/notesMaster" Target="/ppt/notesMasters/notesMaster1.xml" Id="Rb0e807388cc044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036aac102c4f78" /><Relationship Type="http://schemas.openxmlformats.org/officeDocument/2006/relationships/notesMaster" Target="/ppt/notesMasters/notesMaster1.xml" Id="Rbe764461845b4c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967c7b6a72402b" /><Relationship Type="http://schemas.openxmlformats.org/officeDocument/2006/relationships/notesMaster" Target="/ppt/notesMasters/notesMaster1.xml" Id="R4b6dce11de8c45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c59cd5e71e4802" /><Relationship Type="http://schemas.openxmlformats.org/officeDocument/2006/relationships/notesMaster" Target="/ppt/notesMasters/notesMaster1.xml" Id="R27bed383142144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76fd796e1e464c" /><Relationship Type="http://schemas.openxmlformats.org/officeDocument/2006/relationships/notesMaster" Target="/ppt/notesMasters/notesMaster1.xml" Id="R987d449d00f942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b5e178a92a453e" /><Relationship Type="http://schemas.openxmlformats.org/officeDocument/2006/relationships/notesMaster" Target="/ppt/notesMasters/notesMaster1.xml" Id="R1422dbb98c0440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1fabea06fe4a73" /><Relationship Type="http://schemas.openxmlformats.org/officeDocument/2006/relationships/notesMaster" Target="/ppt/notesMasters/notesMaster1.xml" Id="R09b0ff75501b4a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CareAI Platform, a production-style demo of how I would design an AI platform for payer and healthcare-operations use cases without real PHI. The point is not one model or one chatbot; it is a reusable platform for data, models, prompts, deployments, governance, monitoring, and rollback.</a:t>
            </a:r>
          </a:p>
          <a:p xmlns:a="http://schemas.openxmlformats.org/drawingml/2006/main">
            <a:r>
              <a:t/>
            </a:r>
          </a:p>
          <a:p xmlns:a="http://schemas.openxmlformats.org/drawingml/2006/main">
            <a:r>
              <a:t>My interview framing: it helps operations teams move from isolated AI experiments to governed, deployable, observable AI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CareAI is an internal AI platform for healthcare operations teams that need secure, governed, reusable AI services across predictive models and document-reasoning workflows.</a:t>
            </a:r>
          </a:p>
          <a:p xmlns:a="http://schemas.openxmlformats.org/drawingml/2006/main">
            <a:r>
              <a:t/>
            </a:r>
          </a:p>
          <a:p xmlns:a="http://schemas.openxmlformats.org/drawingml/2006/main">
            <a:r>
              <a:t>Direct users are platform engineers, ML engineers, data scientists, and operations stakeholders. The business-facing customers are teams that need faster decisions, consistent workflows, and clear operational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30-second system view. The control plane tracks datasets, model artifacts, prompt templates, approvals, deployments, audit events, evaluation runs, and bounded workflow state. Two serving planes execute the work: a prediction API for claims-risk inference and a RAG gateway for policy and operations Q&amp;A. Pipelines feed both sides, and monitoring closes the loop.</a:t>
            </a:r>
          </a:p>
          <a:p xmlns:a="http://schemas.openxmlformats.org/drawingml/2006/main">
            <a:r>
              <a:t/>
            </a:r>
          </a:p>
          <a:p xmlns:a="http://schemas.openxmlformats.org/drawingml/2006/main">
            <a:r>
              <a:t>The design is local-first for development, but Azure-native for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position the control plane as the governance and workflow brain. It stores metadata, lineage, evaluation status, approval decisions, and rollout state. This is where platform maturity shows up: it is not just serving predictions; it knows what is deployed, why it was approved, and what changed.</a:t>
            </a:r>
          </a:p>
          <a:p xmlns:a="http://schemas.openxmlformats.org/drawingml/2006/main">
            <a:r>
              <a:t/>
            </a:r>
          </a:p>
          <a:p xmlns:a="http://schemas.openxmlformats.org/drawingml/2006/main">
            <a:r>
              <a:t>The key point is that production promotion is policy-controlled, not an ad hoc API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traditional ML flow starts with synthetic claims-like data, trains a risk model, logs runs to MLflow, then writes metadata to the control plane. That gives both experiment tracking and enterprise metadata. Approvals and model cards then gate deployment.</a:t>
            </a:r>
          </a:p>
          <a:p xmlns:a="http://schemas.openxmlformats.org/drawingml/2006/main">
            <a:r>
              <a:t/>
            </a:r>
          </a:p>
          <a:p xmlns:a="http://schemas.openxmlformats.org/drawingml/2006/main">
            <a:r>
              <a:t>The lifecycle is concrete: dev, candidate, staging, approved, production, and 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inference service does not blindly assume the model is present and healthy. It validates inputs, has freshness and missingness checks, returns explicit model metadata, and uses deterministic rules if the artifact is unavailable.</a:t>
            </a:r>
          </a:p>
          <a:p xmlns:a="http://schemas.openxmlformats.org/drawingml/2006/main">
            <a:r>
              <a:t/>
            </a:r>
          </a:p>
          <a:p xmlns:a="http://schemas.openxmlformats.org/drawingml/2006/main">
            <a:r>
              <a:t>For rollout safety, champion/challenger routing and traffic splits are supported. In a production environment, the same control pattern can front a traffic router or service mesh. In the current local stack, the endpoint reports fallback mode because no model URI is mounted into the container.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Documents are chunked, embedded, and indexed into Azure AI Search or a local fallback index. At query time, the service enforces role-based retrieval filters, selects an approved prompt template when available, runs safety checks, and requires citations.</a:t>
            </a:r>
          </a:p>
          <a:p xmlns:a="http://schemas.openxmlformats.org/drawingml/2006/main">
            <a:r>
              <a:t/>
            </a:r>
          </a:p>
          <a:p xmlns:a="http://schemas.openxmlformats.org/drawingml/2006/main">
            <a:r>
              <a:t>The important design choice is groundedness and traceability instead of a free-form answer engine.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whether this follows loop engineering, the answer is yes. The RAG system has a retrieval and validation loop. MLOps has a deployment and monitoring loop. Governance has an approval loop.</a:t>
            </a:r>
          </a:p>
          <a:p xmlns:a="http://schemas.openxmlformats.org/drawingml/2006/main">
            <a:r>
              <a:t/>
            </a:r>
          </a:p>
          <a:p xmlns:a="http://schemas.openxmlformats.org/drawingml/2006/main">
            <a:r>
              <a:t>The control plane also has a cross-service case loop: it deterministically plans one allowlisted tool, executes it, verifies evidence, retries incomplete policy retrieval once, and creates a human-review item for other failures. WorkflowRun planner_state_json keeps the safe plan, verification, retry, and handoff history. This is custom bounded orchestration today, not LangGraph or an unbounded LLM agent. The next cloud step is a durable queue or Container Apps Job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events are persisted for monitoring. Drift checks compare recent serving distributions to training baselines. Logs and traces use a request correlation ID across services. Event Hubs support is present so the architecture can become more event-driven without changing service contracts.</a:t>
            </a:r>
          </a:p>
          <a:p xmlns:a="http://schemas.openxmlformats.org/drawingml/2006/main">
            <a:r>
              <a:t/>
            </a:r>
          </a:p>
          <a:p xmlns:a="http://schemas.openxmlformats.org/drawingml/2006/main">
            <a:r>
              <a:t>Drift detection is intentionally lightweight today, but the operational seams are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cloud path is Azure Container Apps plus ACR, with Terraform managing the resource group, environment, storage, search, observability, and optional services like PostgreSQL, Redis, Event Hubs, and Azure ML. It shows cloud maturity without introducing Kubernetes complexity by default.</a:t>
            </a:r>
          </a:p>
          <a:p xmlns:a="http://schemas.openxmlformats.org/drawingml/2006/main">
            <a:r>
              <a:t/>
            </a:r>
          </a:p>
          <a:p xmlns:a="http://schemas.openxmlformats.org/drawingml/2006/main">
            <a:r>
              <a:t>Managed identity is used for image pulls and Azure resource access; runtime secrets should be externalized through Key Vault references. The remaining operating seams are explicit: publish the trained model bundle to Blob Storage, run Azure AI Search ingestion, and add a Container Apps Job or queue worker for scheduled workflow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be direct about what is mocked. The point is not to pretend this is a live healthcare production platform. The point is to demonstrate system design judgment: governance boundaries, deployment patterns, lifecycle management, and operational feedback loops.</a:t>
            </a:r>
          </a:p>
          <a:p xmlns:a="http://schemas.openxmlformats.org/drawingml/2006/main">
            <a:r>
              <a:t/>
            </a:r>
          </a:p>
          <a:p xmlns:a="http://schemas.openxmlformats.org/drawingml/2006/main">
            <a:r>
              <a:t>That honesty shows I understand the edges of a real production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closing line: this design fits a payer-focused AI platform role because it brings together reusable services, healthcare-aware governance, deployment automation, and production observability. It supports complex operational workflows, not isolated demos.</a:t>
            </a:r>
          </a:p>
          <a:p xmlns:a="http://schemas.openxmlformats.org/drawingml/2006/main">
            <a:r>
              <a:t/>
            </a:r>
          </a:p>
          <a:p xmlns:a="http://schemas.openxmlformats.org/drawingml/2006/main">
            <a:r>
              <a:t>If the panel wants to go deeper, I can branch into control plane governance, MLOps rollout safety, RAG and loop engineering, or Azure deployment and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a9c4b475bd4f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5bcab473a74bd3" /><Relationship Type="http://schemas.openxmlformats.org/officeDocument/2006/relationships/slideLayout" Target="/ppt/slideLayouts/slideLayout1.xml" Id="R4046afaa71e242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46afaa71e242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568af70c2a48fb" /><Relationship Type="http://schemas.openxmlformats.org/officeDocument/2006/relationships/notesSlide" Target="/ppt/notesSlides/notesSlide1.xml" Id="Rff8987c85ab64b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4ed2a7988d44b4" /><Relationship Type="http://schemas.openxmlformats.org/officeDocument/2006/relationships/notesSlide" Target="/ppt/notesSlides/notesSlide2.xml" Id="Rae6cdb16db254b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585977e0634381" /><Relationship Type="http://schemas.openxmlformats.org/officeDocument/2006/relationships/notesSlide" Target="/ppt/notesSlides/notesSlide3.xml" Id="Rbae100d964764f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6dca3a72514201" /><Relationship Type="http://schemas.openxmlformats.org/officeDocument/2006/relationships/notesSlide" Target="/ppt/notesSlides/notesSlide4.xml" Id="R6da0b79e75164e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39ef98e898458d" /><Relationship Type="http://schemas.openxmlformats.org/officeDocument/2006/relationships/notesSlide" Target="/ppt/notesSlides/notesSlide5.xml" Id="R0cc8b7ab83d94c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da36d1e95f4b07" /><Relationship Type="http://schemas.openxmlformats.org/officeDocument/2006/relationships/notesSlide" Target="/ppt/notesSlides/notesSlide6.xml" Id="Rbec22af76ddd47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12fb23c70c4d6c" /><Relationship Type="http://schemas.openxmlformats.org/officeDocument/2006/relationships/notesSlide" Target="/ppt/notesSlides/notesSlide7.xml" Id="R269e1e7971e942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eaba68f1184e19" /><Relationship Type="http://schemas.openxmlformats.org/officeDocument/2006/relationships/notesSlide" Target="/ppt/notesSlides/notesSlide8.xml" Id="R6861f46915f546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36c8338ee84e40" /><Relationship Type="http://schemas.openxmlformats.org/officeDocument/2006/relationships/notesSlide" Target="/ppt/notesSlides/notesSlide9.xml" Id="R631b3d99bedc46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b934d555344af6" /><Relationship Type="http://schemas.openxmlformats.org/officeDocument/2006/relationships/notesSlide" Target="/ppt/notesSlides/notesSlide10.xml" Id="R70919aad89494e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7d449ab39e42e4" /><Relationship Type="http://schemas.openxmlformats.org/officeDocument/2006/relationships/notesSlide" Target="/ppt/notesSlides/notesSlide11.xml" Id="R959e45378ee64f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81ef9209014f44" /><Relationship Type="http://schemas.openxmlformats.org/officeDocument/2006/relationships/notesSlide" Target="/ppt/notesSlides/notesSlide12.xml" Id="R2a03854d84834193"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B79E02-21E7-4FFA-9E41-B16C3F86CBBE}"/>
              </a:ext>
            </a:extLst>
          </p:cNvPr>
          <p:cNvSpPr>
            <a:spLocks xmlns:a="http://schemas.openxmlformats.org/drawingml/2006/main" noGrp="1"/>
          </p:cNvSpPr>
          <p:nvPr/>
        </p:nvSpPr>
        <p:spPr>
          <a:xfrm xmlns:a="http://schemas.openxmlformats.org/drawingml/2006/main">
            <a:off x="552450" y="533400"/>
            <a:ext cx="66675" cy="5619750"/>
          </a:xfrm>
          <a:prstGeom xmlns:a="http://schemas.openxmlformats.org/drawingml/2006/main" prst="rect">
            <a:avLst/>
          </a:prstGeom>
          <a:solidFill xmlns:a="http://schemas.openxmlformats.org/drawingml/2006/main">
            <a:srgbClr val="0E9F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6A2625-0371-4BE8-9CB7-0BD8532F04F6}"/>
              </a:ext>
            </a:extLst>
          </p:cNvPr>
          <p:cNvSpPr>
            <a:spLocks xmlns:a="http://schemas.openxmlformats.org/drawingml/2006/main" noGrp="1"/>
          </p:cNvSpPr>
          <p:nvPr/>
        </p:nvSpPr>
        <p:spPr>
          <a:xfrm xmlns:a="http://schemas.openxmlformats.org/drawingml/2006/main">
            <a:off x="876300" y="742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84D8D0"/>
                </a:solidFill>
              </a:defRPr>
            </a:pPr>
            <a:r>
              <a:rPr sz="1275" b="1">
                <a:solidFill>
                  <a:srgbClr val="84D8D0"/>
                </a:solidFill>
              </a:rPr>
              <a:t>CAREAI PLATFORM</a:t>
            </a:r>
          </a:p>
        </p:txBody>
      </p:sp>
      <p:sp>
        <p:nvSpPr>
          <p:cNvPr id="3" name="">
            <a:extLst xmlns:a="http://schemas.openxmlformats.org/drawingml/2006/main">
              <a:ext uri="{FF2B5EF4-FFF2-40B4-BE49-F238E27FC236}">
                <a16:creationId xmlns:a16="http://schemas.microsoft.com/office/drawing/2014/main" id="{30D2D86F-97E7-4F2D-90A9-3059486883DA}"/>
              </a:ext>
            </a:extLst>
          </p:cNvPr>
          <p:cNvSpPr>
            <a:spLocks xmlns:a="http://schemas.openxmlformats.org/drawingml/2006/main" noGrp="1"/>
          </p:cNvSpPr>
          <p:nvPr/>
        </p:nvSpPr>
        <p:spPr>
          <a:xfrm xmlns:a="http://schemas.openxmlformats.org/drawingml/2006/main">
            <a:off x="876300" y="1543050"/>
            <a:ext cx="9239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Enterprise AI platform</a:t>
            </a:r>
          </a:p>
          <a:p xmlns:a="http://schemas.openxmlformats.org/drawingml/2006/main">
            <a:pPr algn="l">
              <a:defRPr sz="4050" b="1">
                <a:solidFill>
                  <a:srgbClr val="FFFFFF"/>
                </a:solidFill>
              </a:defRPr>
            </a:pPr>
            <a:r>
              <a:rPr sz="4050" b="1">
                <a:solidFill>
                  <a:srgbClr val="FFFFFF"/>
                </a:solidFill>
              </a:rPr>
              <a:t>for healthcare operations</a:t>
            </a:r>
          </a:p>
        </p:txBody>
      </p:sp>
      <p:sp>
        <p:nvSpPr>
          <p:cNvPr id="4" name="">
            <a:extLst xmlns:a="http://schemas.openxmlformats.org/drawingml/2006/main">
              <a:ext uri="{FF2B5EF4-FFF2-40B4-BE49-F238E27FC236}">
                <a16:creationId xmlns:a16="http://schemas.microsoft.com/office/drawing/2014/main" id="{FE177DFC-AE3A-4D8C-8DB1-28B0F8173317}"/>
              </a:ext>
            </a:extLst>
          </p:cNvPr>
          <p:cNvSpPr>
            <a:spLocks xmlns:a="http://schemas.openxmlformats.org/drawingml/2006/main" noGrp="1"/>
          </p:cNvSpPr>
          <p:nvPr/>
        </p:nvSpPr>
        <p:spPr>
          <a:xfrm xmlns:a="http://schemas.openxmlformats.org/drawingml/2006/main">
            <a:off x="895350" y="348615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4ED"/>
                </a:solidFill>
              </a:defRPr>
            </a:pPr>
            <a:r>
              <a:rPr sz="1875" b="0">
                <a:solidFill>
                  <a:srgbClr val="D7E4ED"/>
                </a:solidFill>
              </a:rPr>
              <a:t>A synthetic-data-only demonstration of MLOps, LLMOps, governance, and Azure deployment.</a:t>
            </a:r>
          </a:p>
        </p:txBody>
      </p:sp>
      <p:sp>
        <p:nvSpPr>
          <p:cNvPr id="5" name="">
            <a:extLst xmlns:a="http://schemas.openxmlformats.org/drawingml/2006/main">
              <a:ext uri="{FF2B5EF4-FFF2-40B4-BE49-F238E27FC236}">
                <a16:creationId xmlns:a16="http://schemas.microsoft.com/office/drawing/2014/main" id="{001DF190-4DCC-4955-859E-171FDF382B9A}"/>
              </a:ext>
            </a:extLst>
          </p:cNvPr>
          <p:cNvSpPr>
            <a:spLocks xmlns:a="http://schemas.openxmlformats.org/drawingml/2006/main" noGrp="1"/>
          </p:cNvSpPr>
          <p:nvPr/>
        </p:nvSpPr>
        <p:spPr>
          <a:xfrm xmlns:a="http://schemas.openxmlformats.org/drawingml/2006/main">
            <a:off x="895350" y="4876800"/>
            <a:ext cx="9048750" cy="876300"/>
          </a:xfrm>
          <a:prstGeom xmlns:a="http://schemas.openxmlformats.org/drawingml/2006/main" prst="roundRect">
            <a:avLst>
              <a:gd name="adj" fmla="val 13043"/>
            </a:avLst>
          </a:prstGeom>
          <a:solidFill xmlns:a="http://schemas.openxmlformats.org/drawingml/2006/main">
            <a:srgbClr val="143A5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87059B-36AE-433C-8826-A4E1082B2763}"/>
              </a:ext>
            </a:extLst>
          </p:cNvPr>
          <p:cNvSpPr>
            <a:spLocks xmlns:a="http://schemas.openxmlformats.org/drawingml/2006/main" noGrp="1"/>
          </p:cNvSpPr>
          <p:nvPr/>
        </p:nvSpPr>
        <p:spPr>
          <a:xfrm xmlns:a="http://schemas.openxmlformats.org/drawingml/2006/main">
            <a:off x="1162050" y="5162550"/>
            <a:ext cx="851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9DCE6"/>
                </a:solidFill>
              </a:defRPr>
            </a:pPr>
            <a:r>
              <a:rPr sz="1650" b="1">
                <a:solidFill>
                  <a:srgbClr val="B9DCE6"/>
                </a:solidFill>
              </a:rPr>
              <a:t>Safe rollout  ·  observable services  ·  repeatable platform reuse</a:t>
            </a:r>
          </a:p>
        </p:txBody>
      </p:sp>
      <p:sp>
        <p:nvSpPr>
          <p:cNvPr id="7" name="">
            <a:extLst xmlns:a="http://schemas.openxmlformats.org/drawingml/2006/main">
              <a:ext uri="{FF2B5EF4-FFF2-40B4-BE49-F238E27FC236}">
                <a16:creationId xmlns:a16="http://schemas.microsoft.com/office/drawing/2014/main" id="{AB3E1EA7-1868-4F1A-885C-D170E1AC1686}"/>
              </a:ext>
            </a:extLst>
          </p:cNvPr>
          <p:cNvSpPr>
            <a:spLocks xmlns:a="http://schemas.openxmlformats.org/drawingml/2006/main" noGrp="1"/>
          </p:cNvSpPr>
          <p:nvPr/>
        </p:nvSpPr>
        <p:spPr>
          <a:xfrm xmlns:a="http://schemas.openxmlformats.org/drawingml/2006/main">
            <a:off x="895350" y="62484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9CB8C8"/>
                </a:solidFill>
              </a:defRPr>
            </a:pPr>
            <a:r>
              <a:rPr sz="1125" b="0">
                <a:solidFill>
                  <a:srgbClr val="9CB8C8"/>
                </a:solidFill>
              </a:rPr>
              <a:t>System design interview deck</a:t>
            </a:r>
          </a:p>
        </p:txBody>
      </p:sp>
    </p:spTree>
    <p:extLst>
      <p:ext uri="{BB962C8B-B14F-4D97-AF65-F5344CB8AC3E}">
        <p14:creationId xmlns:p14="http://schemas.microsoft.com/office/powerpoint/2010/main" val="16256256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774BDA-65B0-43E4-8D8D-82EF4BE0536B}"/>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01  /  PRODUCT FRAMING</a:t>
            </a:r>
          </a:p>
        </p:txBody>
      </p:sp>
      <p:sp>
        <p:nvSpPr>
          <p:cNvPr id="2" name="">
            <a:extLst xmlns:a="http://schemas.openxmlformats.org/drawingml/2006/main">
              <a:ext uri="{FF2B5EF4-FFF2-40B4-BE49-F238E27FC236}">
                <a16:creationId xmlns:a16="http://schemas.microsoft.com/office/drawing/2014/main" id="{6E420626-DF76-4386-A2E7-08804D733754}"/>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The product: governed AI services for operations teams</a:t>
            </a:r>
          </a:p>
        </p:txBody>
      </p:sp>
      <p:sp>
        <p:nvSpPr>
          <p:cNvPr id="3" name="">
            <a:extLst xmlns:a="http://schemas.openxmlformats.org/drawingml/2006/main">
              <a:ext uri="{FF2B5EF4-FFF2-40B4-BE49-F238E27FC236}">
                <a16:creationId xmlns:a16="http://schemas.microsoft.com/office/drawing/2014/main" id="{D7EFCE6C-43E4-4BB9-844F-DFCF94F43136}"/>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4B55C5-6F79-4728-8504-360C94D5CF51}"/>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02</a:t>
            </a:r>
          </a:p>
        </p:txBody>
      </p:sp>
      <p:sp>
        <p:nvSpPr>
          <p:cNvPr id="5" name="">
            <a:extLst xmlns:a="http://schemas.openxmlformats.org/drawingml/2006/main">
              <a:ext uri="{FF2B5EF4-FFF2-40B4-BE49-F238E27FC236}">
                <a16:creationId xmlns:a16="http://schemas.microsoft.com/office/drawing/2014/main" id="{A6D6A358-8CB0-4517-BBEE-A7DEEF87ACAC}"/>
              </a:ext>
            </a:extLst>
          </p:cNvPr>
          <p:cNvSpPr>
            <a:spLocks xmlns:a="http://schemas.openxmlformats.org/drawingml/2006/main" noGrp="1"/>
          </p:cNvSpPr>
          <p:nvPr/>
        </p:nvSpPr>
        <p:spPr>
          <a:xfrm xmlns:a="http://schemas.openxmlformats.org/drawingml/2006/main">
            <a:off x="552450" y="1714500"/>
            <a:ext cx="3314700" cy="3676650"/>
          </a:xfrm>
          <a:prstGeom xmlns:a="http://schemas.openxmlformats.org/drawingml/2006/main" prst="roundRect">
            <a:avLst>
              <a:gd name="adj" fmla="val 3448"/>
            </a:avLst>
          </a:prstGeom>
          <a:solidFill xmlns:a="http://schemas.openxmlformats.org/drawingml/2006/main">
            <a:srgbClr val="E7F7F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1B952C-8265-4D8B-887A-2A392177C7E3}"/>
              </a:ext>
            </a:extLst>
          </p:cNvPr>
          <p:cNvSpPr>
            <a:spLocks xmlns:a="http://schemas.openxmlformats.org/drawingml/2006/main" noGrp="1"/>
          </p:cNvSpPr>
          <p:nvPr/>
        </p:nvSpPr>
        <p:spPr>
          <a:xfrm xmlns:a="http://schemas.openxmlformats.org/drawingml/2006/main">
            <a:off x="762000" y="19240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Who uses it</a:t>
            </a:r>
          </a:p>
        </p:txBody>
      </p:sp>
      <p:sp>
        <p:nvSpPr>
          <p:cNvPr id="7" name="">
            <a:extLst xmlns:a="http://schemas.openxmlformats.org/drawingml/2006/main">
              <a:ext uri="{FF2B5EF4-FFF2-40B4-BE49-F238E27FC236}">
                <a16:creationId xmlns:a16="http://schemas.microsoft.com/office/drawing/2014/main" id="{8D285B5D-9BF4-4BB4-8239-0D1AD6BCD75C}"/>
              </a:ext>
            </a:extLst>
          </p:cNvPr>
          <p:cNvSpPr>
            <a:spLocks xmlns:a="http://schemas.openxmlformats.org/drawingml/2006/main" noGrp="1"/>
          </p:cNvSpPr>
          <p:nvPr/>
        </p:nvSpPr>
        <p:spPr>
          <a:xfrm xmlns:a="http://schemas.openxmlformats.org/drawingml/2006/main">
            <a:off x="762000" y="2476500"/>
            <a:ext cx="28956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Payment integrity</a:t>
            </a:r>
          </a:p>
          <a:p xmlns:a="http://schemas.openxmlformats.org/drawingml/2006/main">
            <a:pPr algn="l">
              <a:defRPr sz="1275" b="0">
                <a:solidFill>
                  <a:srgbClr val="4E6274"/>
                </a:solidFill>
              </a:defRPr>
            </a:pPr>
            <a:r>
              <a:rPr sz="1275" b="0">
                <a:solidFill>
                  <a:srgbClr val="4E6274"/>
                </a:solidFill>
              </a:rPr>
              <a:t>Claims operations</a:t>
            </a:r>
          </a:p>
          <a:p xmlns:a="http://schemas.openxmlformats.org/drawingml/2006/main">
            <a:pPr algn="l">
              <a:defRPr sz="1275" b="0">
                <a:solidFill>
                  <a:srgbClr val="4E6274"/>
                </a:solidFill>
              </a:defRPr>
            </a:pPr>
            <a:r>
              <a:rPr sz="1275" b="0">
                <a:solidFill>
                  <a:srgbClr val="4E6274"/>
                </a:solidFill>
              </a:rPr>
              <a:t>Prior authorization</a:t>
            </a:r>
          </a:p>
          <a:p xmlns:a="http://schemas.openxmlformats.org/drawingml/2006/main">
            <a:pPr algn="l">
              <a:defRPr sz="1275" b="0">
                <a:solidFill>
                  <a:srgbClr val="4E6274"/>
                </a:solidFill>
              </a:defRPr>
            </a:pPr>
            <a:r>
              <a:rPr sz="1275" b="0">
                <a:solidFill>
                  <a:srgbClr val="4E6274"/>
                </a:solidFill>
              </a:rPr>
              <a:t>Member support</a:t>
            </a:r>
          </a:p>
          <a:p xmlns:a="http://schemas.openxmlformats.org/drawingml/2006/main">
            <a:pPr algn="l">
              <a:defRPr sz="1275" b="0">
                <a:solidFill>
                  <a:srgbClr val="4E6274"/>
                </a:solidFill>
              </a:defRPr>
            </a:pPr>
            <a:r>
              <a:rPr sz="1275" b="0">
                <a:solidFill>
                  <a:srgbClr val="4E6274"/>
                </a:solidFill>
              </a:rPr>
              <a:t>Internal AI platform teams</a:t>
            </a:r>
          </a:p>
        </p:txBody>
      </p:sp>
      <p:sp>
        <p:nvSpPr>
          <p:cNvPr id="8" name="">
            <a:extLst xmlns:a="http://schemas.openxmlformats.org/drawingml/2006/main">
              <a:ext uri="{FF2B5EF4-FFF2-40B4-BE49-F238E27FC236}">
                <a16:creationId xmlns:a16="http://schemas.microsoft.com/office/drawing/2014/main" id="{08B2C31A-9703-4796-827A-26CFF88BA4E5}"/>
              </a:ext>
            </a:extLst>
          </p:cNvPr>
          <p:cNvSpPr>
            <a:spLocks xmlns:a="http://schemas.openxmlformats.org/drawingml/2006/main" noGrp="1"/>
          </p:cNvSpPr>
          <p:nvPr/>
        </p:nvSpPr>
        <p:spPr>
          <a:xfrm xmlns:a="http://schemas.openxmlformats.org/drawingml/2006/main">
            <a:off x="4438650" y="1714500"/>
            <a:ext cx="3314700" cy="3676650"/>
          </a:xfrm>
          <a:prstGeom xmlns:a="http://schemas.openxmlformats.org/drawingml/2006/main" prst="roundRect">
            <a:avLst>
              <a:gd name="adj" fmla="val 3448"/>
            </a:avLst>
          </a:prstGeom>
          <a:solidFill xmlns:a="http://schemas.openxmlformats.org/drawingml/2006/main">
            <a:srgbClr val="EAF5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E76AB3-5D35-406F-B79D-4EFAF63710E4}"/>
              </a:ext>
            </a:extLst>
          </p:cNvPr>
          <p:cNvSpPr>
            <a:spLocks xmlns:a="http://schemas.openxmlformats.org/drawingml/2006/main" noGrp="1"/>
          </p:cNvSpPr>
          <p:nvPr/>
        </p:nvSpPr>
        <p:spPr>
          <a:xfrm xmlns:a="http://schemas.openxmlformats.org/drawingml/2006/main">
            <a:off x="4648200" y="19240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What it provides</a:t>
            </a:r>
          </a:p>
        </p:txBody>
      </p:sp>
      <p:sp>
        <p:nvSpPr>
          <p:cNvPr id="10" name="">
            <a:extLst xmlns:a="http://schemas.openxmlformats.org/drawingml/2006/main">
              <a:ext uri="{FF2B5EF4-FFF2-40B4-BE49-F238E27FC236}">
                <a16:creationId xmlns:a16="http://schemas.microsoft.com/office/drawing/2014/main" id="{1E25D319-F137-46D5-A0CB-F2AF5AA94D66}"/>
              </a:ext>
            </a:extLst>
          </p:cNvPr>
          <p:cNvSpPr>
            <a:spLocks xmlns:a="http://schemas.openxmlformats.org/drawingml/2006/main" noGrp="1"/>
          </p:cNvSpPr>
          <p:nvPr/>
        </p:nvSpPr>
        <p:spPr>
          <a:xfrm xmlns:a="http://schemas.openxmlformats.org/drawingml/2006/main">
            <a:off x="4648200" y="2476500"/>
            <a:ext cx="28956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Asset registry</a:t>
            </a:r>
          </a:p>
          <a:p xmlns:a="http://schemas.openxmlformats.org/drawingml/2006/main">
            <a:pPr algn="l">
              <a:defRPr sz="1275" b="0">
                <a:solidFill>
                  <a:srgbClr val="4E6274"/>
                </a:solidFill>
              </a:defRPr>
            </a:pPr>
            <a:r>
              <a:rPr sz="1275" b="0">
                <a:solidFill>
                  <a:srgbClr val="4E6274"/>
                </a:solidFill>
              </a:rPr>
              <a:t>Reusable inference and RAG APIs</a:t>
            </a:r>
          </a:p>
          <a:p xmlns:a="http://schemas.openxmlformats.org/drawingml/2006/main">
            <a:pPr algn="l">
              <a:defRPr sz="1275" b="0">
                <a:solidFill>
                  <a:srgbClr val="4E6274"/>
                </a:solidFill>
              </a:defRPr>
            </a:pPr>
            <a:r>
              <a:rPr sz="1275" b="0">
                <a:solidFill>
                  <a:srgbClr val="4E6274"/>
                </a:solidFill>
              </a:rPr>
              <a:t>Approval workflows</a:t>
            </a:r>
          </a:p>
          <a:p xmlns:a="http://schemas.openxmlformats.org/drawingml/2006/main">
            <a:pPr algn="l">
              <a:defRPr sz="1275" b="0">
                <a:solidFill>
                  <a:srgbClr val="4E6274"/>
                </a:solidFill>
              </a:defRPr>
            </a:pPr>
            <a:r>
              <a:rPr sz="1275" b="0">
                <a:solidFill>
                  <a:srgbClr val="4E6274"/>
                </a:solidFill>
              </a:rPr>
              <a:t>Auditability and lineage</a:t>
            </a:r>
          </a:p>
        </p:txBody>
      </p:sp>
      <p:sp>
        <p:nvSpPr>
          <p:cNvPr id="11" name="">
            <a:extLst xmlns:a="http://schemas.openxmlformats.org/drawingml/2006/main">
              <a:ext uri="{FF2B5EF4-FFF2-40B4-BE49-F238E27FC236}">
                <a16:creationId xmlns:a16="http://schemas.microsoft.com/office/drawing/2014/main" id="{2328659B-EE8E-4E05-8F77-D5B1CA12F85C}"/>
              </a:ext>
            </a:extLst>
          </p:cNvPr>
          <p:cNvSpPr>
            <a:spLocks xmlns:a="http://schemas.openxmlformats.org/drawingml/2006/main" noGrp="1"/>
          </p:cNvSpPr>
          <p:nvPr/>
        </p:nvSpPr>
        <p:spPr>
          <a:xfrm xmlns:a="http://schemas.openxmlformats.org/drawingml/2006/main">
            <a:off x="8324850" y="1714500"/>
            <a:ext cx="3314700" cy="3676650"/>
          </a:xfrm>
          <a:prstGeom xmlns:a="http://schemas.openxmlformats.org/drawingml/2006/main" prst="roundRect">
            <a:avLst>
              <a:gd name="adj" fmla="val 3448"/>
            </a:avLst>
          </a:prstGeom>
          <a:solidFill xmlns:a="http://schemas.openxmlformats.org/drawingml/2006/main">
            <a:srgbClr val="F5F8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3764C0-ADFD-4790-A70B-145F5627B34A}"/>
              </a:ext>
            </a:extLst>
          </p:cNvPr>
          <p:cNvSpPr>
            <a:spLocks xmlns:a="http://schemas.openxmlformats.org/drawingml/2006/main" noGrp="1"/>
          </p:cNvSpPr>
          <p:nvPr/>
        </p:nvSpPr>
        <p:spPr>
          <a:xfrm xmlns:a="http://schemas.openxmlformats.org/drawingml/2006/main">
            <a:off x="8534400" y="19240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What it protects</a:t>
            </a:r>
          </a:p>
        </p:txBody>
      </p:sp>
      <p:sp>
        <p:nvSpPr>
          <p:cNvPr id="13" name="">
            <a:extLst xmlns:a="http://schemas.openxmlformats.org/drawingml/2006/main">
              <a:ext uri="{FF2B5EF4-FFF2-40B4-BE49-F238E27FC236}">
                <a16:creationId xmlns:a16="http://schemas.microsoft.com/office/drawing/2014/main" id="{85F2074E-7AC5-4409-810A-83EA59EB65D4}"/>
              </a:ext>
            </a:extLst>
          </p:cNvPr>
          <p:cNvSpPr>
            <a:spLocks xmlns:a="http://schemas.openxmlformats.org/drawingml/2006/main" noGrp="1"/>
          </p:cNvSpPr>
          <p:nvPr/>
        </p:nvSpPr>
        <p:spPr>
          <a:xfrm xmlns:a="http://schemas.openxmlformats.org/drawingml/2006/main">
            <a:off x="8534400" y="2476500"/>
            <a:ext cx="28956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Quality and drift</a:t>
            </a:r>
          </a:p>
          <a:p xmlns:a="http://schemas.openxmlformats.org/drawingml/2006/main">
            <a:pPr algn="l">
              <a:defRPr sz="1275" b="0">
                <a:solidFill>
                  <a:srgbClr val="4E6274"/>
                </a:solidFill>
              </a:defRPr>
            </a:pPr>
            <a:r>
              <a:rPr sz="1275" b="0">
                <a:solidFill>
                  <a:srgbClr val="4E6274"/>
                </a:solidFill>
              </a:rPr>
              <a:t>Latency and reliability</a:t>
            </a:r>
          </a:p>
          <a:p xmlns:a="http://schemas.openxmlformats.org/drawingml/2006/main">
            <a:pPr algn="l">
              <a:defRPr sz="1275" b="0">
                <a:solidFill>
                  <a:srgbClr val="4E6274"/>
                </a:solidFill>
              </a:defRPr>
            </a:pPr>
            <a:r>
              <a:rPr sz="1275" b="0">
                <a:solidFill>
                  <a:srgbClr val="4E6274"/>
                </a:solidFill>
              </a:rPr>
              <a:t>Groundedness and safety</a:t>
            </a:r>
          </a:p>
          <a:p xmlns:a="http://schemas.openxmlformats.org/drawingml/2006/main">
            <a:pPr algn="l">
              <a:defRPr sz="1275" b="0">
                <a:solidFill>
                  <a:srgbClr val="4E6274"/>
                </a:solidFill>
              </a:defRPr>
            </a:pPr>
            <a:r>
              <a:rPr sz="1275" b="0">
                <a:solidFill>
                  <a:srgbClr val="4E6274"/>
                </a:solidFill>
              </a:rPr>
              <a:t>Safe rollout and rollback</a:t>
            </a:r>
          </a:p>
        </p:txBody>
      </p:sp>
      <p:sp>
        <p:nvSpPr>
          <p:cNvPr id="14" name="">
            <a:extLst xmlns:a="http://schemas.openxmlformats.org/drawingml/2006/main">
              <a:ext uri="{FF2B5EF4-FFF2-40B4-BE49-F238E27FC236}">
                <a16:creationId xmlns:a16="http://schemas.microsoft.com/office/drawing/2014/main" id="{C5C91147-F1D0-43DB-A980-F7E14B3AE18A}"/>
              </a:ext>
            </a:extLst>
          </p:cNvPr>
          <p:cNvSpPr>
            <a:spLocks xmlns:a="http://schemas.openxmlformats.org/drawingml/2006/main" noGrp="1"/>
          </p:cNvSpPr>
          <p:nvPr/>
        </p:nvSpPr>
        <p:spPr>
          <a:xfrm xmlns:a="http://schemas.openxmlformats.org/drawingml/2006/main">
            <a:off x="552450" y="57531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7EAF"/>
                </a:solidFill>
              </a:defRPr>
            </a:pPr>
            <a:r>
              <a:rPr sz="1650" b="1">
                <a:solidFill>
                  <a:srgbClr val="177EAF"/>
                </a:solidFill>
              </a:rPr>
              <a:t>One platform, two execution patterns: predictive ML + document-grounded GenAI.</a:t>
            </a:r>
          </a:p>
        </p:txBody>
      </p:sp>
    </p:spTree>
    <p:extLst>
      <p:ext uri="{BB962C8B-B14F-4D97-AF65-F5344CB8AC3E}">
        <p14:creationId xmlns:p14="http://schemas.microsoft.com/office/powerpoint/2010/main" val="14158920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3B6851-6E37-4D4B-B513-13C18649F277}"/>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02  /  HIGH-LEVEL ARCHITECTURE</a:t>
            </a:r>
          </a:p>
        </p:txBody>
      </p:sp>
      <p:sp>
        <p:nvSpPr>
          <p:cNvPr id="2" name="">
            <a:extLst xmlns:a="http://schemas.openxmlformats.org/drawingml/2006/main">
              <a:ext uri="{FF2B5EF4-FFF2-40B4-BE49-F238E27FC236}">
                <a16:creationId xmlns:a16="http://schemas.microsoft.com/office/drawing/2014/main" id="{C7F20A54-CBE4-4B71-8420-351FEE3EA761}"/>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The control plane is the center of gravity</a:t>
            </a:r>
          </a:p>
        </p:txBody>
      </p:sp>
      <p:sp>
        <p:nvSpPr>
          <p:cNvPr id="3" name="">
            <a:extLst xmlns:a="http://schemas.openxmlformats.org/drawingml/2006/main">
              <a:ext uri="{FF2B5EF4-FFF2-40B4-BE49-F238E27FC236}">
                <a16:creationId xmlns:a16="http://schemas.microsoft.com/office/drawing/2014/main" id="{34363F1F-6EAB-40A8-9EAB-F5E65A90BCDA}"/>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242F93-FBEC-4AAE-B902-53BB49EA184A}"/>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03</a:t>
            </a:r>
          </a:p>
        </p:txBody>
      </p:sp>
      <p:sp>
        <p:nvSpPr>
          <p:cNvPr id="5" name="">
            <a:extLst xmlns:a="http://schemas.openxmlformats.org/drawingml/2006/main">
              <a:ext uri="{FF2B5EF4-FFF2-40B4-BE49-F238E27FC236}">
                <a16:creationId xmlns:a16="http://schemas.microsoft.com/office/drawing/2014/main" id="{795906FD-FD45-4CC3-B9AB-D7B330FD260D}"/>
              </a:ext>
            </a:extLst>
          </p:cNvPr>
          <p:cNvSpPr>
            <a:spLocks xmlns:a="http://schemas.openxmlformats.org/drawingml/2006/main" noGrp="1"/>
          </p:cNvSpPr>
          <p:nvPr/>
        </p:nvSpPr>
        <p:spPr>
          <a:xfrm xmlns:a="http://schemas.openxmlformats.org/drawingml/2006/main">
            <a:off x="552450" y="1619250"/>
            <a:ext cx="2190750" cy="1381125"/>
          </a:xfrm>
          <a:prstGeom xmlns:a="http://schemas.openxmlformats.org/drawingml/2006/main" prst="roundRect">
            <a:avLst>
              <a:gd name="adj" fmla="val 8276"/>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E6CEE1-E8C4-4E43-9DE8-9EF261F273B4}"/>
              </a:ext>
            </a:extLst>
          </p:cNvPr>
          <p:cNvSpPr>
            <a:spLocks xmlns:a="http://schemas.openxmlformats.org/drawingml/2006/main" noGrp="1"/>
          </p:cNvSpPr>
          <p:nvPr/>
        </p:nvSpPr>
        <p:spPr>
          <a:xfrm xmlns:a="http://schemas.openxmlformats.org/drawingml/2006/main">
            <a:off x="762000" y="1828800"/>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Web console</a:t>
            </a:r>
          </a:p>
        </p:txBody>
      </p:sp>
      <p:sp>
        <p:nvSpPr>
          <p:cNvPr id="7" name="">
            <a:extLst xmlns:a="http://schemas.openxmlformats.org/drawingml/2006/main">
              <a:ext uri="{FF2B5EF4-FFF2-40B4-BE49-F238E27FC236}">
                <a16:creationId xmlns:a16="http://schemas.microsoft.com/office/drawing/2014/main" id="{2EF9741D-4D35-4F9E-85E8-C94744B3EA44}"/>
              </a:ext>
            </a:extLst>
          </p:cNvPr>
          <p:cNvSpPr>
            <a:spLocks xmlns:a="http://schemas.openxmlformats.org/drawingml/2006/main" noGrp="1"/>
          </p:cNvSpPr>
          <p:nvPr/>
        </p:nvSpPr>
        <p:spPr>
          <a:xfrm xmlns:a="http://schemas.openxmlformats.org/drawingml/2006/main">
            <a:off x="762000" y="2381250"/>
            <a:ext cx="1771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Operational workflows and review</a:t>
            </a:r>
          </a:p>
        </p:txBody>
      </p:sp>
      <p:sp>
        <p:nvSpPr>
          <p:cNvPr id="8" name="">
            <a:extLst xmlns:a="http://schemas.openxmlformats.org/drawingml/2006/main">
              <a:ext uri="{FF2B5EF4-FFF2-40B4-BE49-F238E27FC236}">
                <a16:creationId xmlns:a16="http://schemas.microsoft.com/office/drawing/2014/main" id="{47FC1B91-EC6D-42BB-ACD0-91DAC6E7F57A}"/>
              </a:ext>
            </a:extLst>
          </p:cNvPr>
          <p:cNvSpPr>
            <a:spLocks xmlns:a="http://schemas.openxmlformats.org/drawingml/2006/main" noGrp="1"/>
          </p:cNvSpPr>
          <p:nvPr/>
        </p:nvSpPr>
        <p:spPr>
          <a:xfrm xmlns:a="http://schemas.openxmlformats.org/drawingml/2006/main">
            <a:off x="552450" y="3400425"/>
            <a:ext cx="2190750" cy="1381125"/>
          </a:xfrm>
          <a:prstGeom xmlns:a="http://schemas.openxmlformats.org/drawingml/2006/main" prst="roundRect">
            <a:avLst>
              <a:gd name="adj" fmla="val 8276"/>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212301-59B5-4F53-8B87-5D17B1F92C15}"/>
              </a:ext>
            </a:extLst>
          </p:cNvPr>
          <p:cNvSpPr>
            <a:spLocks xmlns:a="http://schemas.openxmlformats.org/drawingml/2006/main" noGrp="1"/>
          </p:cNvSpPr>
          <p:nvPr/>
        </p:nvSpPr>
        <p:spPr>
          <a:xfrm xmlns:a="http://schemas.openxmlformats.org/drawingml/2006/main">
            <a:off x="762000" y="3609975"/>
            <a:ext cx="1771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Pipelines</a:t>
            </a:r>
          </a:p>
        </p:txBody>
      </p:sp>
      <p:sp>
        <p:nvSpPr>
          <p:cNvPr id="10" name="">
            <a:extLst xmlns:a="http://schemas.openxmlformats.org/drawingml/2006/main">
              <a:ext uri="{FF2B5EF4-FFF2-40B4-BE49-F238E27FC236}">
                <a16:creationId xmlns:a16="http://schemas.microsoft.com/office/drawing/2014/main" id="{C1301D87-F7F4-4AD7-A738-C9DAA2F8E322}"/>
              </a:ext>
            </a:extLst>
          </p:cNvPr>
          <p:cNvSpPr>
            <a:spLocks xmlns:a="http://schemas.openxmlformats.org/drawingml/2006/main" noGrp="1"/>
          </p:cNvSpPr>
          <p:nvPr/>
        </p:nvSpPr>
        <p:spPr>
          <a:xfrm xmlns:a="http://schemas.openxmlformats.org/drawingml/2006/main">
            <a:off x="762000" y="4162425"/>
            <a:ext cx="1771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Synthetic data, training, ingestion</a:t>
            </a:r>
          </a:p>
        </p:txBody>
      </p:sp>
      <p:sp>
        <p:nvSpPr>
          <p:cNvPr id="11" name="">
            <a:extLst xmlns:a="http://schemas.openxmlformats.org/drawingml/2006/main">
              <a:ext uri="{FF2B5EF4-FFF2-40B4-BE49-F238E27FC236}">
                <a16:creationId xmlns:a16="http://schemas.microsoft.com/office/drawing/2014/main" id="{1202B010-378E-4D36-9D36-6E7022E6D698}"/>
              </a:ext>
            </a:extLst>
          </p:cNvPr>
          <p:cNvSpPr>
            <a:spLocks xmlns:a="http://schemas.openxmlformats.org/drawingml/2006/main" noGrp="1"/>
          </p:cNvSpPr>
          <p:nvPr/>
        </p:nvSpPr>
        <p:spPr>
          <a:xfrm xmlns:a="http://schemas.openxmlformats.org/drawingml/2006/main">
            <a:off x="2857500" y="213360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2" name="">
            <a:extLst xmlns:a="http://schemas.openxmlformats.org/drawingml/2006/main">
              <a:ext uri="{FF2B5EF4-FFF2-40B4-BE49-F238E27FC236}">
                <a16:creationId xmlns:a16="http://schemas.microsoft.com/office/drawing/2014/main" id="{EB3F5814-E681-4C43-830F-CA17E7751623}"/>
              </a:ext>
            </a:extLst>
          </p:cNvPr>
          <p:cNvSpPr>
            <a:spLocks xmlns:a="http://schemas.openxmlformats.org/drawingml/2006/main" noGrp="1"/>
          </p:cNvSpPr>
          <p:nvPr/>
        </p:nvSpPr>
        <p:spPr>
          <a:xfrm xmlns:a="http://schemas.openxmlformats.org/drawingml/2006/main">
            <a:off x="2857500" y="3981450"/>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3" name="">
            <a:extLst xmlns:a="http://schemas.openxmlformats.org/drawingml/2006/main">
              <a:ext uri="{FF2B5EF4-FFF2-40B4-BE49-F238E27FC236}">
                <a16:creationId xmlns:a16="http://schemas.microsoft.com/office/drawing/2014/main" id="{8AAC9092-8010-43DC-9C62-1D3429B296BF}"/>
              </a:ext>
            </a:extLst>
          </p:cNvPr>
          <p:cNvSpPr>
            <a:spLocks xmlns:a="http://schemas.openxmlformats.org/drawingml/2006/main" noGrp="1"/>
          </p:cNvSpPr>
          <p:nvPr/>
        </p:nvSpPr>
        <p:spPr>
          <a:xfrm xmlns:a="http://schemas.openxmlformats.org/drawingml/2006/main">
            <a:off x="3714750" y="1752600"/>
            <a:ext cx="2857500" cy="3028950"/>
          </a:xfrm>
          <a:prstGeom xmlns:a="http://schemas.openxmlformats.org/drawingml/2006/main" prst="roundRect">
            <a:avLst>
              <a:gd name="adj" fmla="val 4000"/>
            </a:avLst>
          </a:prstGeom>
          <a:solidFill xmlns:a="http://schemas.openxmlformats.org/drawingml/2006/main">
            <a:srgbClr val="0B1F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066394-DC70-45BA-BB69-0BC4311CFB3E}"/>
              </a:ext>
            </a:extLst>
          </p:cNvPr>
          <p:cNvSpPr>
            <a:spLocks xmlns:a="http://schemas.openxmlformats.org/drawingml/2006/main" noGrp="1"/>
          </p:cNvSpPr>
          <p:nvPr/>
        </p:nvSpPr>
        <p:spPr>
          <a:xfrm xmlns:a="http://schemas.openxmlformats.org/drawingml/2006/main">
            <a:off x="4048125" y="21336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CONTROL PLANE</a:t>
            </a:r>
          </a:p>
        </p:txBody>
      </p:sp>
      <p:sp>
        <p:nvSpPr>
          <p:cNvPr id="15" name="">
            <a:extLst xmlns:a="http://schemas.openxmlformats.org/drawingml/2006/main">
              <a:ext uri="{FF2B5EF4-FFF2-40B4-BE49-F238E27FC236}">
                <a16:creationId xmlns:a16="http://schemas.microsoft.com/office/drawing/2014/main" id="{EB87C345-3B97-4DFA-921C-C9ABF45D845C}"/>
              </a:ext>
            </a:extLst>
          </p:cNvPr>
          <p:cNvSpPr>
            <a:spLocks xmlns:a="http://schemas.openxmlformats.org/drawingml/2006/main" noGrp="1"/>
          </p:cNvSpPr>
          <p:nvPr/>
        </p:nvSpPr>
        <p:spPr>
          <a:xfrm xmlns:a="http://schemas.openxmlformats.org/drawingml/2006/main">
            <a:off x="4048125" y="27241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D5E8F2"/>
                </a:solidFill>
              </a:defRPr>
            </a:pPr>
            <a:r>
              <a:rPr sz="1425" b="0">
                <a:solidFill>
                  <a:srgbClr val="D5E8F2"/>
                </a:solidFill>
              </a:rPr>
              <a:t>Datasets · models · prompts</a:t>
            </a:r>
          </a:p>
          <a:p xmlns:a="http://schemas.openxmlformats.org/drawingml/2006/main">
            <a:pPr algn="ctr">
              <a:defRPr sz="1425" b="0">
                <a:solidFill>
                  <a:srgbClr val="D5E8F2"/>
                </a:solidFill>
              </a:defRPr>
            </a:pPr>
            <a:r>
              <a:rPr sz="1425" b="0">
                <a:solidFill>
                  <a:srgbClr val="D5E8F2"/>
                </a:solidFill>
              </a:rPr>
              <a:t>Deployments · approvals</a:t>
            </a:r>
          </a:p>
          <a:p xmlns:a="http://schemas.openxmlformats.org/drawingml/2006/main">
            <a:pPr algn="ctr">
              <a:defRPr sz="1425" b="0">
                <a:solidFill>
                  <a:srgbClr val="D5E8F2"/>
                </a:solidFill>
              </a:defRPr>
            </a:pPr>
            <a:r>
              <a:rPr sz="1425" b="0">
                <a:solidFill>
                  <a:srgbClr val="D5E8F2"/>
                </a:solidFill>
              </a:rPr>
              <a:t>Evaluation · audit · workflows</a:t>
            </a:r>
          </a:p>
        </p:txBody>
      </p:sp>
      <p:sp>
        <p:nvSpPr>
          <p:cNvPr id="16" name="">
            <a:extLst xmlns:a="http://schemas.openxmlformats.org/drawingml/2006/main">
              <a:ext uri="{FF2B5EF4-FFF2-40B4-BE49-F238E27FC236}">
                <a16:creationId xmlns:a16="http://schemas.microsoft.com/office/drawing/2014/main" id="{F0BB6B0C-C1DA-46DC-B5FA-8959398FEBD6}"/>
              </a:ext>
            </a:extLst>
          </p:cNvPr>
          <p:cNvSpPr>
            <a:spLocks xmlns:a="http://schemas.openxmlformats.org/drawingml/2006/main" noGrp="1"/>
          </p:cNvSpPr>
          <p:nvPr/>
        </p:nvSpPr>
        <p:spPr>
          <a:xfrm xmlns:a="http://schemas.openxmlformats.org/drawingml/2006/main">
            <a:off x="4048125" y="41433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86C7D8"/>
                </a:solidFill>
              </a:defRPr>
            </a:pPr>
            <a:r>
              <a:rPr sz="1200" b="1">
                <a:solidFill>
                  <a:srgbClr val="86C7D8"/>
                </a:solidFill>
              </a:rPr>
              <a:t>PostgreSQL · Redis · events</a:t>
            </a:r>
          </a:p>
        </p:txBody>
      </p:sp>
      <p:sp>
        <p:nvSpPr>
          <p:cNvPr id="17" name="">
            <a:extLst xmlns:a="http://schemas.openxmlformats.org/drawingml/2006/main">
              <a:ext uri="{FF2B5EF4-FFF2-40B4-BE49-F238E27FC236}">
                <a16:creationId xmlns:a16="http://schemas.microsoft.com/office/drawing/2014/main" id="{ACE2A6D6-4451-4D14-8A23-5F9036BD29FE}"/>
              </a:ext>
            </a:extLst>
          </p:cNvPr>
          <p:cNvSpPr>
            <a:spLocks xmlns:a="http://schemas.openxmlformats.org/drawingml/2006/main" noGrp="1"/>
          </p:cNvSpPr>
          <p:nvPr/>
        </p:nvSpPr>
        <p:spPr>
          <a:xfrm xmlns:a="http://schemas.openxmlformats.org/drawingml/2006/main">
            <a:off x="6705600" y="2247900"/>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8" name="">
            <a:extLst xmlns:a="http://schemas.openxmlformats.org/drawingml/2006/main">
              <a:ext uri="{FF2B5EF4-FFF2-40B4-BE49-F238E27FC236}">
                <a16:creationId xmlns:a16="http://schemas.microsoft.com/office/drawing/2014/main" id="{7B732E22-E422-4A1F-9C8D-B7E08885D1F0}"/>
              </a:ext>
            </a:extLst>
          </p:cNvPr>
          <p:cNvSpPr>
            <a:spLocks xmlns:a="http://schemas.openxmlformats.org/drawingml/2006/main" noGrp="1"/>
          </p:cNvSpPr>
          <p:nvPr/>
        </p:nvSpPr>
        <p:spPr>
          <a:xfrm xmlns:a="http://schemas.openxmlformats.org/drawingml/2006/main">
            <a:off x="6705600" y="3857625"/>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9" name="">
            <a:extLst xmlns:a="http://schemas.openxmlformats.org/drawingml/2006/main">
              <a:ext uri="{FF2B5EF4-FFF2-40B4-BE49-F238E27FC236}">
                <a16:creationId xmlns:a16="http://schemas.microsoft.com/office/drawing/2014/main" id="{377B728D-29E8-4582-88E7-E184D1C98262}"/>
              </a:ext>
            </a:extLst>
          </p:cNvPr>
          <p:cNvSpPr>
            <a:spLocks xmlns:a="http://schemas.openxmlformats.org/drawingml/2006/main" noGrp="1"/>
          </p:cNvSpPr>
          <p:nvPr/>
        </p:nvSpPr>
        <p:spPr>
          <a:xfrm xmlns:a="http://schemas.openxmlformats.org/drawingml/2006/main">
            <a:off x="7448550" y="1619250"/>
            <a:ext cx="4191000" cy="1381125"/>
          </a:xfrm>
          <a:prstGeom xmlns:a="http://schemas.openxmlformats.org/drawingml/2006/main" prst="roundRect">
            <a:avLst>
              <a:gd name="adj" fmla="val 8276"/>
            </a:avLst>
          </a:prstGeom>
          <a:solidFill xmlns:a="http://schemas.openxmlformats.org/drawingml/2006/main">
            <a:srgbClr val="F5F8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5624640-0D42-418E-AE13-F6D8A484857B}"/>
              </a:ext>
            </a:extLst>
          </p:cNvPr>
          <p:cNvSpPr>
            <a:spLocks xmlns:a="http://schemas.openxmlformats.org/drawingml/2006/main" noGrp="1"/>
          </p:cNvSpPr>
          <p:nvPr/>
        </p:nvSpPr>
        <p:spPr>
          <a:xfrm xmlns:a="http://schemas.openxmlformats.org/drawingml/2006/main">
            <a:off x="7658100" y="1828800"/>
            <a:ext cx="3771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Inference service</a:t>
            </a:r>
          </a:p>
        </p:txBody>
      </p:sp>
      <p:sp>
        <p:nvSpPr>
          <p:cNvPr id="21" name="">
            <a:extLst xmlns:a="http://schemas.openxmlformats.org/drawingml/2006/main">
              <a:ext uri="{FF2B5EF4-FFF2-40B4-BE49-F238E27FC236}">
                <a16:creationId xmlns:a16="http://schemas.microsoft.com/office/drawing/2014/main" id="{6B3E9AA8-6B31-417B-A0F6-35B02531C702}"/>
              </a:ext>
            </a:extLst>
          </p:cNvPr>
          <p:cNvSpPr>
            <a:spLocks xmlns:a="http://schemas.openxmlformats.org/drawingml/2006/main" noGrp="1"/>
          </p:cNvSpPr>
          <p:nvPr/>
        </p:nvSpPr>
        <p:spPr>
          <a:xfrm xmlns:a="http://schemas.openxmlformats.org/drawingml/2006/main">
            <a:off x="7658100" y="2381250"/>
            <a:ext cx="3771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Validated claims-risk scoring, model metadata, monitoring and fallback behavior</a:t>
            </a:r>
          </a:p>
        </p:txBody>
      </p:sp>
      <p:sp>
        <p:nvSpPr>
          <p:cNvPr id="22" name="">
            <a:extLst xmlns:a="http://schemas.openxmlformats.org/drawingml/2006/main">
              <a:ext uri="{FF2B5EF4-FFF2-40B4-BE49-F238E27FC236}">
                <a16:creationId xmlns:a16="http://schemas.microsoft.com/office/drawing/2014/main" id="{9D4CEFF4-B1A4-4523-8145-CA935582FEDE}"/>
              </a:ext>
            </a:extLst>
          </p:cNvPr>
          <p:cNvSpPr>
            <a:spLocks xmlns:a="http://schemas.openxmlformats.org/drawingml/2006/main" noGrp="1"/>
          </p:cNvSpPr>
          <p:nvPr/>
        </p:nvSpPr>
        <p:spPr>
          <a:xfrm xmlns:a="http://schemas.openxmlformats.org/drawingml/2006/main">
            <a:off x="7448550" y="3400425"/>
            <a:ext cx="4191000" cy="1381125"/>
          </a:xfrm>
          <a:prstGeom xmlns:a="http://schemas.openxmlformats.org/drawingml/2006/main" prst="roundRect">
            <a:avLst>
              <a:gd name="adj" fmla="val 8276"/>
            </a:avLst>
          </a:prstGeom>
          <a:solidFill xmlns:a="http://schemas.openxmlformats.org/drawingml/2006/main">
            <a:srgbClr val="F5F8F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C4F7AD3-415B-44E5-838F-FBA99D7E9A46}"/>
              </a:ext>
            </a:extLst>
          </p:cNvPr>
          <p:cNvSpPr>
            <a:spLocks xmlns:a="http://schemas.openxmlformats.org/drawingml/2006/main" noGrp="1"/>
          </p:cNvSpPr>
          <p:nvPr/>
        </p:nvSpPr>
        <p:spPr>
          <a:xfrm xmlns:a="http://schemas.openxmlformats.org/drawingml/2006/main">
            <a:off x="7658100" y="3609975"/>
            <a:ext cx="3771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RAG service</a:t>
            </a:r>
          </a:p>
        </p:txBody>
      </p:sp>
      <p:sp>
        <p:nvSpPr>
          <p:cNvPr id="24" name="">
            <a:extLst xmlns:a="http://schemas.openxmlformats.org/drawingml/2006/main">
              <a:ext uri="{FF2B5EF4-FFF2-40B4-BE49-F238E27FC236}">
                <a16:creationId xmlns:a16="http://schemas.microsoft.com/office/drawing/2014/main" id="{9D63B341-C0FF-40E0-98DE-E95423BED4FD}"/>
              </a:ext>
            </a:extLst>
          </p:cNvPr>
          <p:cNvSpPr>
            <a:spLocks xmlns:a="http://schemas.openxmlformats.org/drawingml/2006/main" noGrp="1"/>
          </p:cNvSpPr>
          <p:nvPr/>
        </p:nvSpPr>
        <p:spPr>
          <a:xfrm xmlns:a="http://schemas.openxmlformats.org/drawingml/2006/main">
            <a:off x="7658100" y="4162425"/>
            <a:ext cx="37719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Role-filtered retrieval, approved prompts, cited answers and safety checks</a:t>
            </a:r>
          </a:p>
        </p:txBody>
      </p:sp>
      <p:sp>
        <p:nvSpPr>
          <p:cNvPr id="25" name="">
            <a:extLst xmlns:a="http://schemas.openxmlformats.org/drawingml/2006/main">
              <a:ext uri="{FF2B5EF4-FFF2-40B4-BE49-F238E27FC236}">
                <a16:creationId xmlns:a16="http://schemas.microsoft.com/office/drawing/2014/main" id="{E9BE1F05-5E87-437D-9187-E5E9BB4409A5}"/>
              </a:ext>
            </a:extLst>
          </p:cNvPr>
          <p:cNvSpPr>
            <a:spLocks xmlns:a="http://schemas.openxmlformats.org/drawingml/2006/main" noGrp="1"/>
          </p:cNvSpPr>
          <p:nvPr/>
        </p:nvSpPr>
        <p:spPr>
          <a:xfrm xmlns:a="http://schemas.openxmlformats.org/drawingml/2006/main">
            <a:off x="552450" y="5581650"/>
            <a:ext cx="752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7EAF"/>
                </a:solidFill>
              </a:defRPr>
            </a:pPr>
            <a:r>
              <a:rPr sz="1575" b="1">
                <a:solidFill>
                  <a:srgbClr val="177EAF"/>
                </a:solidFill>
              </a:rPr>
              <a:t>Local-first development; Azure-native deployment path.</a:t>
            </a:r>
          </a:p>
        </p:txBody>
      </p:sp>
    </p:spTree>
    <p:extLst>
      <p:ext uri="{BB962C8B-B14F-4D97-AF65-F5344CB8AC3E}">
        <p14:creationId xmlns:p14="http://schemas.microsoft.com/office/powerpoint/2010/main" val="1453909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46DE9D-6DAB-4AA1-A1CE-252AD0E3C640}"/>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03  /  CONTROL PLANE AND GOVERNANCE</a:t>
            </a:r>
          </a:p>
        </p:txBody>
      </p:sp>
      <p:sp>
        <p:nvSpPr>
          <p:cNvPr id="2" name="">
            <a:extLst xmlns:a="http://schemas.openxmlformats.org/drawingml/2006/main">
              <a:ext uri="{FF2B5EF4-FFF2-40B4-BE49-F238E27FC236}">
                <a16:creationId xmlns:a16="http://schemas.microsoft.com/office/drawing/2014/main" id="{7EF63E5A-B36F-4E54-9458-7C6E0D2BB47F}"/>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Governance is built into the lifecycle—not bolted on</a:t>
            </a:r>
          </a:p>
        </p:txBody>
      </p:sp>
      <p:sp>
        <p:nvSpPr>
          <p:cNvPr id="3" name="">
            <a:extLst xmlns:a="http://schemas.openxmlformats.org/drawingml/2006/main">
              <a:ext uri="{FF2B5EF4-FFF2-40B4-BE49-F238E27FC236}">
                <a16:creationId xmlns:a16="http://schemas.microsoft.com/office/drawing/2014/main" id="{B43562FF-2FDA-4298-8399-FC4B3430E7AC}"/>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8133C3-B7F7-47D4-B5AD-E55CC995A515}"/>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04</a:t>
            </a:r>
          </a:p>
        </p:txBody>
      </p:sp>
      <p:sp>
        <p:nvSpPr>
          <p:cNvPr id="5" name="">
            <a:extLst xmlns:a="http://schemas.openxmlformats.org/drawingml/2006/main">
              <a:ext uri="{FF2B5EF4-FFF2-40B4-BE49-F238E27FC236}">
                <a16:creationId xmlns:a16="http://schemas.microsoft.com/office/drawing/2014/main" id="{D6D620E9-C146-410C-BA49-01984DD8FA36}"/>
              </a:ext>
            </a:extLst>
          </p:cNvPr>
          <p:cNvSpPr>
            <a:spLocks xmlns:a="http://schemas.openxmlformats.org/drawingml/2006/main" noGrp="1"/>
          </p:cNvSpPr>
          <p:nvPr/>
        </p:nvSpPr>
        <p:spPr>
          <a:xfrm xmlns:a="http://schemas.openxmlformats.org/drawingml/2006/main">
            <a:off x="552450" y="1695450"/>
            <a:ext cx="3333750" cy="3295650"/>
          </a:xfrm>
          <a:prstGeom xmlns:a="http://schemas.openxmlformats.org/drawingml/2006/main" prst="roundRect">
            <a:avLst>
              <a:gd name="adj" fmla="val 3468"/>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9623A35-88B1-4320-B6BF-CD5094212735}"/>
              </a:ext>
            </a:extLst>
          </p:cNvPr>
          <p:cNvSpPr>
            <a:spLocks xmlns:a="http://schemas.openxmlformats.org/drawingml/2006/main" noGrp="1"/>
          </p:cNvSpPr>
          <p:nvPr/>
        </p:nvSpPr>
        <p:spPr>
          <a:xfrm xmlns:a="http://schemas.openxmlformats.org/drawingml/2006/main">
            <a:off x="762000" y="190500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Core assets</a:t>
            </a:r>
          </a:p>
        </p:txBody>
      </p:sp>
      <p:sp>
        <p:nvSpPr>
          <p:cNvPr id="7" name="">
            <a:extLst xmlns:a="http://schemas.openxmlformats.org/drawingml/2006/main">
              <a:ext uri="{FF2B5EF4-FFF2-40B4-BE49-F238E27FC236}">
                <a16:creationId xmlns:a16="http://schemas.microsoft.com/office/drawing/2014/main" id="{1D9A3787-AC3E-421B-9960-70C7A61DFF47}"/>
              </a:ext>
            </a:extLst>
          </p:cNvPr>
          <p:cNvSpPr>
            <a:spLocks xmlns:a="http://schemas.openxmlformats.org/drawingml/2006/main" noGrp="1"/>
          </p:cNvSpPr>
          <p:nvPr/>
        </p:nvSpPr>
        <p:spPr>
          <a:xfrm xmlns:a="http://schemas.openxmlformats.org/drawingml/2006/main">
            <a:off x="762000" y="2457450"/>
            <a:ext cx="29146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Datasets</a:t>
            </a:r>
          </a:p>
          <a:p xmlns:a="http://schemas.openxmlformats.org/drawingml/2006/main">
            <a:pPr algn="l">
              <a:defRPr sz="1275" b="0">
                <a:solidFill>
                  <a:srgbClr val="4E6274"/>
                </a:solidFill>
              </a:defRPr>
            </a:pPr>
            <a:r>
              <a:rPr sz="1275" b="0">
                <a:solidFill>
                  <a:srgbClr val="4E6274"/>
                </a:solidFill>
              </a:rPr>
              <a:t>Models and deployments</a:t>
            </a:r>
          </a:p>
          <a:p xmlns:a="http://schemas.openxmlformats.org/drawingml/2006/main">
            <a:pPr algn="l">
              <a:defRPr sz="1275" b="0">
                <a:solidFill>
                  <a:srgbClr val="4E6274"/>
                </a:solidFill>
              </a:defRPr>
            </a:pPr>
            <a:r>
              <a:rPr sz="1275" b="0">
                <a:solidFill>
                  <a:srgbClr val="4E6274"/>
                </a:solidFill>
              </a:rPr>
              <a:t>Prompt templates</a:t>
            </a:r>
          </a:p>
          <a:p xmlns:a="http://schemas.openxmlformats.org/drawingml/2006/main">
            <a:pPr algn="l">
              <a:defRPr sz="1275" b="0">
                <a:solidFill>
                  <a:srgbClr val="4E6274"/>
                </a:solidFill>
              </a:defRPr>
            </a:pPr>
            <a:r>
              <a:rPr sz="1275" b="0">
                <a:solidFill>
                  <a:srgbClr val="4E6274"/>
                </a:solidFill>
              </a:rPr>
              <a:t>Evaluation runs</a:t>
            </a:r>
          </a:p>
          <a:p xmlns:a="http://schemas.openxmlformats.org/drawingml/2006/main">
            <a:pPr algn="l">
              <a:defRPr sz="1275" b="0">
                <a:solidFill>
                  <a:srgbClr val="4E6274"/>
                </a:solidFill>
              </a:defRPr>
            </a:pPr>
            <a:r>
              <a:rPr sz="1275" b="0">
                <a:solidFill>
                  <a:srgbClr val="4E6274"/>
                </a:solidFill>
              </a:rPr>
              <a:t>Model cards and prompt cards</a:t>
            </a:r>
          </a:p>
        </p:txBody>
      </p:sp>
      <p:sp>
        <p:nvSpPr>
          <p:cNvPr id="8" name="">
            <a:extLst xmlns:a="http://schemas.openxmlformats.org/drawingml/2006/main">
              <a:ext uri="{FF2B5EF4-FFF2-40B4-BE49-F238E27FC236}">
                <a16:creationId xmlns:a16="http://schemas.microsoft.com/office/drawing/2014/main" id="{A33C6DAC-BDED-40D7-B588-9802C24E9EEE}"/>
              </a:ext>
            </a:extLst>
          </p:cNvPr>
          <p:cNvSpPr>
            <a:spLocks xmlns:a="http://schemas.openxmlformats.org/drawingml/2006/main" noGrp="1"/>
          </p:cNvSpPr>
          <p:nvPr/>
        </p:nvSpPr>
        <p:spPr>
          <a:xfrm xmlns:a="http://schemas.openxmlformats.org/drawingml/2006/main">
            <a:off x="4438650" y="1695450"/>
            <a:ext cx="3333750" cy="3295650"/>
          </a:xfrm>
          <a:prstGeom xmlns:a="http://schemas.openxmlformats.org/drawingml/2006/main" prst="roundRect">
            <a:avLst>
              <a:gd name="adj" fmla="val 3468"/>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5E092A-6C16-434A-A19A-921096CBC235}"/>
              </a:ext>
            </a:extLst>
          </p:cNvPr>
          <p:cNvSpPr>
            <a:spLocks xmlns:a="http://schemas.openxmlformats.org/drawingml/2006/main" noGrp="1"/>
          </p:cNvSpPr>
          <p:nvPr/>
        </p:nvSpPr>
        <p:spPr>
          <a:xfrm xmlns:a="http://schemas.openxmlformats.org/drawingml/2006/main">
            <a:off x="4648200" y="190500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Release gates</a:t>
            </a:r>
          </a:p>
        </p:txBody>
      </p:sp>
      <p:sp>
        <p:nvSpPr>
          <p:cNvPr id="10" name="">
            <a:extLst xmlns:a="http://schemas.openxmlformats.org/drawingml/2006/main">
              <a:ext uri="{FF2B5EF4-FFF2-40B4-BE49-F238E27FC236}">
                <a16:creationId xmlns:a16="http://schemas.microsoft.com/office/drawing/2014/main" id="{E6B149C4-8BC2-4C81-9459-77C87AEEF594}"/>
              </a:ext>
            </a:extLst>
          </p:cNvPr>
          <p:cNvSpPr>
            <a:spLocks xmlns:a="http://schemas.openxmlformats.org/drawingml/2006/main" noGrp="1"/>
          </p:cNvSpPr>
          <p:nvPr/>
        </p:nvSpPr>
        <p:spPr>
          <a:xfrm xmlns:a="http://schemas.openxmlformats.org/drawingml/2006/main">
            <a:off x="4648200" y="2457450"/>
            <a:ext cx="29146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Model card + approval before production</a:t>
            </a:r>
          </a:p>
          <a:p xmlns:a="http://schemas.openxmlformats.org/drawingml/2006/main">
            <a:r>
              <a:t/>
            </a:r>
          </a:p>
          <a:p xmlns:a="http://schemas.openxmlformats.org/drawingml/2006/main">
            <a:pPr algn="l">
              <a:defRPr sz="1275" b="0">
                <a:solidFill>
                  <a:srgbClr val="4E6274"/>
                </a:solidFill>
              </a:defRPr>
            </a:pPr>
            <a:r>
              <a:rPr sz="1275" b="0">
                <a:solidFill>
                  <a:srgbClr val="4E6274"/>
                </a:solidFill>
              </a:rPr>
              <a:t>Prompt card + approval before production</a:t>
            </a:r>
          </a:p>
          <a:p xmlns:a="http://schemas.openxmlformats.org/drawingml/2006/main">
            <a:r>
              <a:t/>
            </a:r>
          </a:p>
          <a:p xmlns:a="http://schemas.openxmlformats.org/drawingml/2006/main">
            <a:pPr algn="l">
              <a:defRPr sz="1275" b="0">
                <a:solidFill>
                  <a:srgbClr val="4E6274"/>
                </a:solidFill>
              </a:defRPr>
            </a:pPr>
            <a:r>
              <a:rPr sz="1275" b="0">
                <a:solidFill>
                  <a:srgbClr val="4E6274"/>
                </a:solidFill>
              </a:rPr>
              <a:t>Stage transitions are policy controlled</a:t>
            </a:r>
          </a:p>
        </p:txBody>
      </p:sp>
      <p:sp>
        <p:nvSpPr>
          <p:cNvPr id="11" name="">
            <a:extLst xmlns:a="http://schemas.openxmlformats.org/drawingml/2006/main">
              <a:ext uri="{FF2B5EF4-FFF2-40B4-BE49-F238E27FC236}">
                <a16:creationId xmlns:a16="http://schemas.microsoft.com/office/drawing/2014/main" id="{1CE0E4AD-87BA-49C0-8CFA-BAF49281BF70}"/>
              </a:ext>
            </a:extLst>
          </p:cNvPr>
          <p:cNvSpPr>
            <a:spLocks xmlns:a="http://schemas.openxmlformats.org/drawingml/2006/main" noGrp="1"/>
          </p:cNvSpPr>
          <p:nvPr/>
        </p:nvSpPr>
        <p:spPr>
          <a:xfrm xmlns:a="http://schemas.openxmlformats.org/drawingml/2006/main">
            <a:off x="8324850" y="1695450"/>
            <a:ext cx="3314700" cy="3295650"/>
          </a:xfrm>
          <a:prstGeom xmlns:a="http://schemas.openxmlformats.org/drawingml/2006/main" prst="roundRect">
            <a:avLst>
              <a:gd name="adj" fmla="val 3468"/>
            </a:avLst>
          </a:prstGeom>
          <a:solidFill xmlns:a="http://schemas.openxmlformats.org/drawingml/2006/main">
            <a:srgbClr val="F5F8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8BBAB5-4F1A-4410-B326-6EAB16812021}"/>
              </a:ext>
            </a:extLst>
          </p:cNvPr>
          <p:cNvSpPr>
            <a:spLocks xmlns:a="http://schemas.openxmlformats.org/drawingml/2006/main" noGrp="1"/>
          </p:cNvSpPr>
          <p:nvPr/>
        </p:nvSpPr>
        <p:spPr>
          <a:xfrm xmlns:a="http://schemas.openxmlformats.org/drawingml/2006/main">
            <a:off x="8534400" y="190500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Traceability</a:t>
            </a:r>
          </a:p>
        </p:txBody>
      </p:sp>
      <p:sp>
        <p:nvSpPr>
          <p:cNvPr id="13" name="">
            <a:extLst xmlns:a="http://schemas.openxmlformats.org/drawingml/2006/main">
              <a:ext uri="{FF2B5EF4-FFF2-40B4-BE49-F238E27FC236}">
                <a16:creationId xmlns:a16="http://schemas.microsoft.com/office/drawing/2014/main" id="{4C41CA6F-DAE2-4B61-9CF5-27BC482CE7EA}"/>
              </a:ext>
            </a:extLst>
          </p:cNvPr>
          <p:cNvSpPr>
            <a:spLocks xmlns:a="http://schemas.openxmlformats.org/drawingml/2006/main" noGrp="1"/>
          </p:cNvSpPr>
          <p:nvPr/>
        </p:nvSpPr>
        <p:spPr>
          <a:xfrm xmlns:a="http://schemas.openxmlformats.org/drawingml/2006/main">
            <a:off x="8534400" y="24574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Correlation IDs on mutations</a:t>
            </a:r>
          </a:p>
          <a:p xmlns:a="http://schemas.openxmlformats.org/drawingml/2006/main">
            <a:r>
              <a:t/>
            </a:r>
          </a:p>
          <a:p xmlns:a="http://schemas.openxmlformats.org/drawingml/2006/main">
            <a:pPr algn="l">
              <a:defRPr sz="1275" b="0">
                <a:solidFill>
                  <a:srgbClr val="4E6274"/>
                </a:solidFill>
              </a:defRPr>
            </a:pPr>
            <a:r>
              <a:rPr sz="1275" b="0">
                <a:solidFill>
                  <a:srgbClr val="4E6274"/>
                </a:solidFill>
              </a:rPr>
              <a:t>Audit events</a:t>
            </a:r>
          </a:p>
          <a:p xmlns:a="http://schemas.openxmlformats.org/drawingml/2006/main">
            <a:r>
              <a:t/>
            </a:r>
          </a:p>
          <a:p xmlns:a="http://schemas.openxmlformats.org/drawingml/2006/main">
            <a:pPr algn="l">
              <a:defRPr sz="1275" b="0">
                <a:solidFill>
                  <a:srgbClr val="4E6274"/>
                </a:solidFill>
              </a:defRPr>
            </a:pPr>
            <a:r>
              <a:rPr sz="1275" b="0">
                <a:solidFill>
                  <a:srgbClr val="4E6274"/>
                </a:solidFill>
              </a:rPr>
              <a:t>Lineage to data, metrics, code and run IDs</a:t>
            </a:r>
          </a:p>
        </p:txBody>
      </p:sp>
      <p:sp>
        <p:nvSpPr>
          <p:cNvPr id="14" name="">
            <a:extLst xmlns:a="http://schemas.openxmlformats.org/drawingml/2006/main">
              <a:ext uri="{FF2B5EF4-FFF2-40B4-BE49-F238E27FC236}">
                <a16:creationId xmlns:a16="http://schemas.microsoft.com/office/drawing/2014/main" id="{69DDF18B-2D08-4A94-8D7C-1896E9320270}"/>
              </a:ext>
            </a:extLst>
          </p:cNvPr>
          <p:cNvSpPr>
            <a:spLocks xmlns:a="http://schemas.openxmlformats.org/drawingml/2006/main" noGrp="1"/>
          </p:cNvSpPr>
          <p:nvPr/>
        </p:nvSpPr>
        <p:spPr>
          <a:xfrm xmlns:a="http://schemas.openxmlformats.org/drawingml/2006/main">
            <a:off x="552450" y="552450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7EAF"/>
                </a:solidFill>
              </a:defRPr>
            </a:pPr>
            <a:r>
              <a:rPr sz="1650" b="1">
                <a:solidFill>
                  <a:srgbClr val="177EAF"/>
                </a:solidFill>
              </a:rPr>
              <a:t>The platform knows what changed, who approved it, and why it is deployed.</a:t>
            </a:r>
          </a:p>
        </p:txBody>
      </p:sp>
    </p:spTree>
    <p:extLst>
      <p:ext uri="{BB962C8B-B14F-4D97-AF65-F5344CB8AC3E}">
        <p14:creationId xmlns:p14="http://schemas.microsoft.com/office/powerpoint/2010/main" val="10481276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91DE93-CF15-4652-A9A2-235EDEA9EB02}"/>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04  /  CLAIMS-RISK LIFECYCLE</a:t>
            </a:r>
          </a:p>
        </p:txBody>
      </p:sp>
      <p:sp>
        <p:nvSpPr>
          <p:cNvPr id="2" name="">
            <a:extLst xmlns:a="http://schemas.openxmlformats.org/drawingml/2006/main">
              <a:ext uri="{FF2B5EF4-FFF2-40B4-BE49-F238E27FC236}">
                <a16:creationId xmlns:a16="http://schemas.microsoft.com/office/drawing/2014/main" id="{5E95355C-D909-4DF4-850D-2F295307D7F9}"/>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MLOps: train, govern, deploy, observe, improve</a:t>
            </a:r>
          </a:p>
        </p:txBody>
      </p:sp>
      <p:sp>
        <p:nvSpPr>
          <p:cNvPr id="3" name="">
            <a:extLst xmlns:a="http://schemas.openxmlformats.org/drawingml/2006/main">
              <a:ext uri="{FF2B5EF4-FFF2-40B4-BE49-F238E27FC236}">
                <a16:creationId xmlns:a16="http://schemas.microsoft.com/office/drawing/2014/main" id="{22E61648-05BB-45DE-8310-A47C65348949}"/>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4DB1BE-B26C-4F01-8DA5-8E7CAC7CAE2F}"/>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05</a:t>
            </a:r>
          </a:p>
        </p:txBody>
      </p:sp>
      <p:sp>
        <p:nvSpPr>
          <p:cNvPr id="5" name="">
            <a:extLst xmlns:a="http://schemas.openxmlformats.org/drawingml/2006/main">
              <a:ext uri="{FF2B5EF4-FFF2-40B4-BE49-F238E27FC236}">
                <a16:creationId xmlns:a16="http://schemas.microsoft.com/office/drawing/2014/main" id="{A6086801-3E26-469C-8DC3-908259656253}"/>
              </a:ext>
            </a:extLst>
          </p:cNvPr>
          <p:cNvSpPr>
            <a:spLocks xmlns:a="http://schemas.openxmlformats.org/drawingml/2006/main" noGrp="1"/>
          </p:cNvSpPr>
          <p:nvPr/>
        </p:nvSpPr>
        <p:spPr>
          <a:xfrm xmlns:a="http://schemas.openxmlformats.org/drawingml/2006/main">
            <a:off x="552450" y="1809750"/>
            <a:ext cx="2400300" cy="1219200"/>
          </a:xfrm>
          <a:prstGeom xmlns:a="http://schemas.openxmlformats.org/drawingml/2006/main" prst="roundRect">
            <a:avLst>
              <a:gd name="adj" fmla="val 9375"/>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76FCDD-0FE2-4274-BE68-F99E8DA109F1}"/>
              </a:ext>
            </a:extLst>
          </p:cNvPr>
          <p:cNvSpPr>
            <a:spLocks xmlns:a="http://schemas.openxmlformats.org/drawingml/2006/main" noGrp="1"/>
          </p:cNvSpPr>
          <p:nvPr/>
        </p:nvSpPr>
        <p:spPr>
          <a:xfrm xmlns:a="http://schemas.openxmlformats.org/drawingml/2006/main">
            <a:off x="723900" y="19812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01</a:t>
            </a:r>
          </a:p>
        </p:txBody>
      </p:sp>
      <p:sp>
        <p:nvSpPr>
          <p:cNvPr id="7" name="">
            <a:extLst xmlns:a="http://schemas.openxmlformats.org/drawingml/2006/main">
              <a:ext uri="{FF2B5EF4-FFF2-40B4-BE49-F238E27FC236}">
                <a16:creationId xmlns:a16="http://schemas.microsoft.com/office/drawing/2014/main" id="{85E7D345-29D3-43AD-9729-8AF943D3079E}"/>
              </a:ext>
            </a:extLst>
          </p:cNvPr>
          <p:cNvSpPr>
            <a:spLocks xmlns:a="http://schemas.openxmlformats.org/drawingml/2006/main" noGrp="1"/>
          </p:cNvSpPr>
          <p:nvPr/>
        </p:nvSpPr>
        <p:spPr>
          <a:xfrm xmlns:a="http://schemas.openxmlformats.org/drawingml/2006/main">
            <a:off x="723900" y="22669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Generate</a:t>
            </a:r>
          </a:p>
        </p:txBody>
      </p:sp>
      <p:sp>
        <p:nvSpPr>
          <p:cNvPr id="8" name="">
            <a:extLst xmlns:a="http://schemas.openxmlformats.org/drawingml/2006/main">
              <a:ext uri="{FF2B5EF4-FFF2-40B4-BE49-F238E27FC236}">
                <a16:creationId xmlns:a16="http://schemas.microsoft.com/office/drawing/2014/main" id="{DD0E9AC4-D02B-4A1F-80DC-F47ABE6174AB}"/>
              </a:ext>
            </a:extLst>
          </p:cNvPr>
          <p:cNvSpPr>
            <a:spLocks xmlns:a="http://schemas.openxmlformats.org/drawingml/2006/main" noGrp="1"/>
          </p:cNvSpPr>
          <p:nvPr/>
        </p:nvSpPr>
        <p:spPr>
          <a:xfrm xmlns:a="http://schemas.openxmlformats.org/drawingml/2006/main">
            <a:off x="723900" y="2571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Synthetic claims data</a:t>
            </a:r>
          </a:p>
        </p:txBody>
      </p:sp>
      <p:sp>
        <p:nvSpPr>
          <p:cNvPr id="9" name="">
            <a:extLst xmlns:a="http://schemas.openxmlformats.org/drawingml/2006/main">
              <a:ext uri="{FF2B5EF4-FFF2-40B4-BE49-F238E27FC236}">
                <a16:creationId xmlns:a16="http://schemas.microsoft.com/office/drawing/2014/main" id="{4586B816-6920-412F-8032-8B8021521BFB}"/>
              </a:ext>
            </a:extLst>
          </p:cNvPr>
          <p:cNvSpPr>
            <a:spLocks xmlns:a="http://schemas.openxmlformats.org/drawingml/2006/main" noGrp="1"/>
          </p:cNvSpPr>
          <p:nvPr/>
        </p:nvSpPr>
        <p:spPr>
          <a:xfrm xmlns:a="http://schemas.openxmlformats.org/drawingml/2006/main">
            <a:off x="2952750" y="22479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0" name="">
            <a:extLst xmlns:a="http://schemas.openxmlformats.org/drawingml/2006/main">
              <a:ext uri="{FF2B5EF4-FFF2-40B4-BE49-F238E27FC236}">
                <a16:creationId xmlns:a16="http://schemas.microsoft.com/office/drawing/2014/main" id="{7EF425EE-AAD6-44AA-8376-DE75C21F2699}"/>
              </a:ext>
            </a:extLst>
          </p:cNvPr>
          <p:cNvSpPr>
            <a:spLocks xmlns:a="http://schemas.openxmlformats.org/drawingml/2006/main" noGrp="1"/>
          </p:cNvSpPr>
          <p:nvPr/>
        </p:nvSpPr>
        <p:spPr>
          <a:xfrm xmlns:a="http://schemas.openxmlformats.org/drawingml/2006/main">
            <a:off x="3352800" y="1809750"/>
            <a:ext cx="2400300" cy="1219200"/>
          </a:xfrm>
          <a:prstGeom xmlns:a="http://schemas.openxmlformats.org/drawingml/2006/main" prst="roundRect">
            <a:avLst>
              <a:gd name="adj" fmla="val 9375"/>
            </a:avLst>
          </a:prstGeom>
          <a:solidFill xmlns:a="http://schemas.openxmlformats.org/drawingml/2006/main">
            <a:srgbClr val="EAF5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3830F1-2A3B-4767-B2D8-B0DD84E0133D}"/>
              </a:ext>
            </a:extLst>
          </p:cNvPr>
          <p:cNvSpPr>
            <a:spLocks xmlns:a="http://schemas.openxmlformats.org/drawingml/2006/main" noGrp="1"/>
          </p:cNvSpPr>
          <p:nvPr/>
        </p:nvSpPr>
        <p:spPr>
          <a:xfrm xmlns:a="http://schemas.openxmlformats.org/drawingml/2006/main">
            <a:off x="3524250" y="19812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02</a:t>
            </a:r>
          </a:p>
        </p:txBody>
      </p:sp>
      <p:sp>
        <p:nvSpPr>
          <p:cNvPr id="12" name="">
            <a:extLst xmlns:a="http://schemas.openxmlformats.org/drawingml/2006/main">
              <a:ext uri="{FF2B5EF4-FFF2-40B4-BE49-F238E27FC236}">
                <a16:creationId xmlns:a16="http://schemas.microsoft.com/office/drawing/2014/main" id="{A6FFBD4D-B48A-4EBE-A109-3EE1C1312235}"/>
              </a:ext>
            </a:extLst>
          </p:cNvPr>
          <p:cNvSpPr>
            <a:spLocks xmlns:a="http://schemas.openxmlformats.org/drawingml/2006/main" noGrp="1"/>
          </p:cNvSpPr>
          <p:nvPr/>
        </p:nvSpPr>
        <p:spPr>
          <a:xfrm xmlns:a="http://schemas.openxmlformats.org/drawingml/2006/main">
            <a:off x="3524250" y="22669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Train</a:t>
            </a:r>
          </a:p>
        </p:txBody>
      </p:sp>
      <p:sp>
        <p:nvSpPr>
          <p:cNvPr id="13" name="">
            <a:extLst xmlns:a="http://schemas.openxmlformats.org/drawingml/2006/main">
              <a:ext uri="{FF2B5EF4-FFF2-40B4-BE49-F238E27FC236}">
                <a16:creationId xmlns:a16="http://schemas.microsoft.com/office/drawing/2014/main" id="{DDA59277-9E4D-4F59-A685-75FF773633DB}"/>
              </a:ext>
            </a:extLst>
          </p:cNvPr>
          <p:cNvSpPr>
            <a:spLocks xmlns:a="http://schemas.openxmlformats.org/drawingml/2006/main" noGrp="1"/>
          </p:cNvSpPr>
          <p:nvPr/>
        </p:nvSpPr>
        <p:spPr>
          <a:xfrm xmlns:a="http://schemas.openxmlformats.org/drawingml/2006/main">
            <a:off x="3524250" y="2571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Sklearn model + metrics</a:t>
            </a:r>
          </a:p>
        </p:txBody>
      </p:sp>
      <p:sp>
        <p:nvSpPr>
          <p:cNvPr id="14" name="">
            <a:extLst xmlns:a="http://schemas.openxmlformats.org/drawingml/2006/main">
              <a:ext uri="{FF2B5EF4-FFF2-40B4-BE49-F238E27FC236}">
                <a16:creationId xmlns:a16="http://schemas.microsoft.com/office/drawing/2014/main" id="{C376FFE7-ECDD-49BF-A3DD-AD37FF370544}"/>
              </a:ext>
            </a:extLst>
          </p:cNvPr>
          <p:cNvSpPr>
            <a:spLocks xmlns:a="http://schemas.openxmlformats.org/drawingml/2006/main" noGrp="1"/>
          </p:cNvSpPr>
          <p:nvPr/>
        </p:nvSpPr>
        <p:spPr>
          <a:xfrm xmlns:a="http://schemas.openxmlformats.org/drawingml/2006/main">
            <a:off x="5753100" y="22479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5" name="">
            <a:extLst xmlns:a="http://schemas.openxmlformats.org/drawingml/2006/main">
              <a:ext uri="{FF2B5EF4-FFF2-40B4-BE49-F238E27FC236}">
                <a16:creationId xmlns:a16="http://schemas.microsoft.com/office/drawing/2014/main" id="{BF8B9F3B-52A0-48A2-A736-BA171C82FBC5}"/>
              </a:ext>
            </a:extLst>
          </p:cNvPr>
          <p:cNvSpPr>
            <a:spLocks xmlns:a="http://schemas.openxmlformats.org/drawingml/2006/main" noGrp="1"/>
          </p:cNvSpPr>
          <p:nvPr/>
        </p:nvSpPr>
        <p:spPr>
          <a:xfrm xmlns:a="http://schemas.openxmlformats.org/drawingml/2006/main">
            <a:off x="6153150" y="1809750"/>
            <a:ext cx="2400300" cy="1219200"/>
          </a:xfrm>
          <a:prstGeom xmlns:a="http://schemas.openxmlformats.org/drawingml/2006/main" prst="roundRect">
            <a:avLst>
              <a:gd name="adj" fmla="val 9375"/>
            </a:avLst>
          </a:prstGeom>
          <a:solidFill xmlns:a="http://schemas.openxmlformats.org/drawingml/2006/main">
            <a:srgbClr val="EA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ADEB94-55FF-4030-A2EF-73C010DC2E2E}"/>
              </a:ext>
            </a:extLst>
          </p:cNvPr>
          <p:cNvSpPr>
            <a:spLocks xmlns:a="http://schemas.openxmlformats.org/drawingml/2006/main" noGrp="1"/>
          </p:cNvSpPr>
          <p:nvPr/>
        </p:nvSpPr>
        <p:spPr>
          <a:xfrm xmlns:a="http://schemas.openxmlformats.org/drawingml/2006/main">
            <a:off x="6324600" y="19812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03</a:t>
            </a:r>
          </a:p>
        </p:txBody>
      </p:sp>
      <p:sp>
        <p:nvSpPr>
          <p:cNvPr id="17" name="">
            <a:extLst xmlns:a="http://schemas.openxmlformats.org/drawingml/2006/main">
              <a:ext uri="{FF2B5EF4-FFF2-40B4-BE49-F238E27FC236}">
                <a16:creationId xmlns:a16="http://schemas.microsoft.com/office/drawing/2014/main" id="{C208DE00-F690-4D33-9AC2-9D583B362C62}"/>
              </a:ext>
            </a:extLst>
          </p:cNvPr>
          <p:cNvSpPr>
            <a:spLocks xmlns:a="http://schemas.openxmlformats.org/drawingml/2006/main" noGrp="1"/>
          </p:cNvSpPr>
          <p:nvPr/>
        </p:nvSpPr>
        <p:spPr>
          <a:xfrm xmlns:a="http://schemas.openxmlformats.org/drawingml/2006/main">
            <a:off x="6324600" y="22669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Track</a:t>
            </a:r>
          </a:p>
        </p:txBody>
      </p:sp>
      <p:sp>
        <p:nvSpPr>
          <p:cNvPr id="18" name="">
            <a:extLst xmlns:a="http://schemas.openxmlformats.org/drawingml/2006/main">
              <a:ext uri="{FF2B5EF4-FFF2-40B4-BE49-F238E27FC236}">
                <a16:creationId xmlns:a16="http://schemas.microsoft.com/office/drawing/2014/main" id="{E046075E-3B80-45E0-8DC2-064E13C464DD}"/>
              </a:ext>
            </a:extLst>
          </p:cNvPr>
          <p:cNvSpPr>
            <a:spLocks xmlns:a="http://schemas.openxmlformats.org/drawingml/2006/main" noGrp="1"/>
          </p:cNvSpPr>
          <p:nvPr/>
        </p:nvSpPr>
        <p:spPr>
          <a:xfrm xmlns:a="http://schemas.openxmlformats.org/drawingml/2006/main">
            <a:off x="6324600" y="2571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MLflow run + artifacts</a:t>
            </a:r>
          </a:p>
        </p:txBody>
      </p:sp>
      <p:sp>
        <p:nvSpPr>
          <p:cNvPr id="19" name="">
            <a:extLst xmlns:a="http://schemas.openxmlformats.org/drawingml/2006/main">
              <a:ext uri="{FF2B5EF4-FFF2-40B4-BE49-F238E27FC236}">
                <a16:creationId xmlns:a16="http://schemas.microsoft.com/office/drawing/2014/main" id="{06B4F449-0272-47D9-A0DB-F0ED3B2FF5BE}"/>
              </a:ext>
            </a:extLst>
          </p:cNvPr>
          <p:cNvSpPr>
            <a:spLocks xmlns:a="http://schemas.openxmlformats.org/drawingml/2006/main" noGrp="1"/>
          </p:cNvSpPr>
          <p:nvPr/>
        </p:nvSpPr>
        <p:spPr>
          <a:xfrm xmlns:a="http://schemas.openxmlformats.org/drawingml/2006/main">
            <a:off x="8553450" y="22479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20" name="">
            <a:extLst xmlns:a="http://schemas.openxmlformats.org/drawingml/2006/main">
              <a:ext uri="{FF2B5EF4-FFF2-40B4-BE49-F238E27FC236}">
                <a16:creationId xmlns:a16="http://schemas.microsoft.com/office/drawing/2014/main" id="{8B40E311-5AF1-4E38-9D82-40E94CB82928}"/>
              </a:ext>
            </a:extLst>
          </p:cNvPr>
          <p:cNvSpPr>
            <a:spLocks xmlns:a="http://schemas.openxmlformats.org/drawingml/2006/main" noGrp="1"/>
          </p:cNvSpPr>
          <p:nvPr/>
        </p:nvSpPr>
        <p:spPr>
          <a:xfrm xmlns:a="http://schemas.openxmlformats.org/drawingml/2006/main">
            <a:off x="8953500" y="1809750"/>
            <a:ext cx="2400300" cy="1219200"/>
          </a:xfrm>
          <a:prstGeom xmlns:a="http://schemas.openxmlformats.org/drawingml/2006/main" prst="roundRect">
            <a:avLst>
              <a:gd name="adj" fmla="val 9375"/>
            </a:avLst>
          </a:prstGeom>
          <a:solidFill xmlns:a="http://schemas.openxmlformats.org/drawingml/2006/main">
            <a:srgbClr val="EAF5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2F692A0-0FD5-43F8-8717-B74A41AA60A9}"/>
              </a:ext>
            </a:extLst>
          </p:cNvPr>
          <p:cNvSpPr>
            <a:spLocks xmlns:a="http://schemas.openxmlformats.org/drawingml/2006/main" noGrp="1"/>
          </p:cNvSpPr>
          <p:nvPr/>
        </p:nvSpPr>
        <p:spPr>
          <a:xfrm xmlns:a="http://schemas.openxmlformats.org/drawingml/2006/main">
            <a:off x="9124950" y="19812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04</a:t>
            </a:r>
          </a:p>
        </p:txBody>
      </p:sp>
      <p:sp>
        <p:nvSpPr>
          <p:cNvPr id="22" name="">
            <a:extLst xmlns:a="http://schemas.openxmlformats.org/drawingml/2006/main">
              <a:ext uri="{FF2B5EF4-FFF2-40B4-BE49-F238E27FC236}">
                <a16:creationId xmlns:a16="http://schemas.microsoft.com/office/drawing/2014/main" id="{8D2799DB-1FBF-4E6E-BED1-1DB7D2FDC2D3}"/>
              </a:ext>
            </a:extLst>
          </p:cNvPr>
          <p:cNvSpPr>
            <a:spLocks xmlns:a="http://schemas.openxmlformats.org/drawingml/2006/main" noGrp="1"/>
          </p:cNvSpPr>
          <p:nvPr/>
        </p:nvSpPr>
        <p:spPr>
          <a:xfrm xmlns:a="http://schemas.openxmlformats.org/drawingml/2006/main">
            <a:off x="9124950" y="22669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Register</a:t>
            </a:r>
          </a:p>
        </p:txBody>
      </p:sp>
      <p:sp>
        <p:nvSpPr>
          <p:cNvPr id="23" name="">
            <a:extLst xmlns:a="http://schemas.openxmlformats.org/drawingml/2006/main">
              <a:ext uri="{FF2B5EF4-FFF2-40B4-BE49-F238E27FC236}">
                <a16:creationId xmlns:a16="http://schemas.microsoft.com/office/drawing/2014/main" id="{D8B82D37-FBAD-43F7-8C94-00DB081A9949}"/>
              </a:ext>
            </a:extLst>
          </p:cNvPr>
          <p:cNvSpPr>
            <a:spLocks xmlns:a="http://schemas.openxmlformats.org/drawingml/2006/main" noGrp="1"/>
          </p:cNvSpPr>
          <p:nvPr/>
        </p:nvSpPr>
        <p:spPr>
          <a:xfrm xmlns:a="http://schemas.openxmlformats.org/drawingml/2006/main">
            <a:off x="9124950" y="25717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Candidate in control plane</a:t>
            </a:r>
          </a:p>
        </p:txBody>
      </p:sp>
      <p:sp>
        <p:nvSpPr>
          <p:cNvPr id="24" name="">
            <a:extLst xmlns:a="http://schemas.openxmlformats.org/drawingml/2006/main">
              <a:ext uri="{FF2B5EF4-FFF2-40B4-BE49-F238E27FC236}">
                <a16:creationId xmlns:a16="http://schemas.microsoft.com/office/drawing/2014/main" id="{9FDE142C-B32E-4A1F-9EAC-7F6F03170B5C}"/>
              </a:ext>
            </a:extLst>
          </p:cNvPr>
          <p:cNvSpPr>
            <a:spLocks xmlns:a="http://schemas.openxmlformats.org/drawingml/2006/main" noGrp="1"/>
          </p:cNvSpPr>
          <p:nvPr/>
        </p:nvSpPr>
        <p:spPr>
          <a:xfrm xmlns:a="http://schemas.openxmlformats.org/drawingml/2006/main">
            <a:off x="552450" y="3676650"/>
            <a:ext cx="2400300" cy="1219200"/>
          </a:xfrm>
          <a:prstGeom xmlns:a="http://schemas.openxmlformats.org/drawingml/2006/main" prst="roundRect">
            <a:avLst>
              <a:gd name="adj" fmla="val 9375"/>
            </a:avLst>
          </a:prstGeom>
          <a:solidFill xmlns:a="http://schemas.openxmlformats.org/drawingml/2006/main">
            <a:srgbClr val="E7F7F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BADAC06-5443-4BF2-B472-CF0A4C471FF3}"/>
              </a:ext>
            </a:extLst>
          </p:cNvPr>
          <p:cNvSpPr>
            <a:spLocks xmlns:a="http://schemas.openxmlformats.org/drawingml/2006/main" noGrp="1"/>
          </p:cNvSpPr>
          <p:nvPr/>
        </p:nvSpPr>
        <p:spPr>
          <a:xfrm xmlns:a="http://schemas.openxmlformats.org/drawingml/2006/main">
            <a:off x="723900" y="38481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05</a:t>
            </a:r>
          </a:p>
        </p:txBody>
      </p:sp>
      <p:sp>
        <p:nvSpPr>
          <p:cNvPr id="26" name="">
            <a:extLst xmlns:a="http://schemas.openxmlformats.org/drawingml/2006/main">
              <a:ext uri="{FF2B5EF4-FFF2-40B4-BE49-F238E27FC236}">
                <a16:creationId xmlns:a16="http://schemas.microsoft.com/office/drawing/2014/main" id="{63993438-06CC-427C-B6E0-A859FC7DA3D6}"/>
              </a:ext>
            </a:extLst>
          </p:cNvPr>
          <p:cNvSpPr>
            <a:spLocks xmlns:a="http://schemas.openxmlformats.org/drawingml/2006/main" noGrp="1"/>
          </p:cNvSpPr>
          <p:nvPr/>
        </p:nvSpPr>
        <p:spPr>
          <a:xfrm xmlns:a="http://schemas.openxmlformats.org/drawingml/2006/main">
            <a:off x="723900" y="41338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Approve</a:t>
            </a:r>
          </a:p>
        </p:txBody>
      </p:sp>
      <p:sp>
        <p:nvSpPr>
          <p:cNvPr id="27" name="">
            <a:extLst xmlns:a="http://schemas.openxmlformats.org/drawingml/2006/main">
              <a:ext uri="{FF2B5EF4-FFF2-40B4-BE49-F238E27FC236}">
                <a16:creationId xmlns:a16="http://schemas.microsoft.com/office/drawing/2014/main" id="{D413EB5E-4091-4AE0-BA5F-77E4FC5310F0}"/>
              </a:ext>
            </a:extLst>
          </p:cNvPr>
          <p:cNvSpPr>
            <a:spLocks xmlns:a="http://schemas.openxmlformats.org/drawingml/2006/main" noGrp="1"/>
          </p:cNvSpPr>
          <p:nvPr/>
        </p:nvSpPr>
        <p:spPr>
          <a:xfrm xmlns:a="http://schemas.openxmlformats.org/drawingml/2006/main">
            <a:off x="72390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Model card + gate</a:t>
            </a:r>
          </a:p>
        </p:txBody>
      </p:sp>
      <p:sp>
        <p:nvSpPr>
          <p:cNvPr id="28" name="">
            <a:extLst xmlns:a="http://schemas.openxmlformats.org/drawingml/2006/main">
              <a:ext uri="{FF2B5EF4-FFF2-40B4-BE49-F238E27FC236}">
                <a16:creationId xmlns:a16="http://schemas.microsoft.com/office/drawing/2014/main" id="{25A7E470-D850-4075-91A7-258F56E0AF44}"/>
              </a:ext>
            </a:extLst>
          </p:cNvPr>
          <p:cNvSpPr>
            <a:spLocks xmlns:a="http://schemas.openxmlformats.org/drawingml/2006/main" noGrp="1"/>
          </p:cNvSpPr>
          <p:nvPr/>
        </p:nvSpPr>
        <p:spPr>
          <a:xfrm xmlns:a="http://schemas.openxmlformats.org/drawingml/2006/main">
            <a:off x="2952750" y="41148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29" name="">
            <a:extLst xmlns:a="http://schemas.openxmlformats.org/drawingml/2006/main">
              <a:ext uri="{FF2B5EF4-FFF2-40B4-BE49-F238E27FC236}">
                <a16:creationId xmlns:a16="http://schemas.microsoft.com/office/drawing/2014/main" id="{60360EBA-01D2-479E-A4AE-8264E3583087}"/>
              </a:ext>
            </a:extLst>
          </p:cNvPr>
          <p:cNvSpPr>
            <a:spLocks xmlns:a="http://schemas.openxmlformats.org/drawingml/2006/main" noGrp="1"/>
          </p:cNvSpPr>
          <p:nvPr/>
        </p:nvSpPr>
        <p:spPr>
          <a:xfrm xmlns:a="http://schemas.openxmlformats.org/drawingml/2006/main">
            <a:off x="3352800" y="3676650"/>
            <a:ext cx="2400300" cy="1219200"/>
          </a:xfrm>
          <a:prstGeom xmlns:a="http://schemas.openxmlformats.org/drawingml/2006/main" prst="roundRect">
            <a:avLst>
              <a:gd name="adj" fmla="val 9375"/>
            </a:avLst>
          </a:prstGeom>
          <a:solidFill xmlns:a="http://schemas.openxmlformats.org/drawingml/2006/main">
            <a:srgbClr val="E7F7F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BC5C80CA-E06A-47C9-BC8E-7E8BEEE46919}"/>
              </a:ext>
            </a:extLst>
          </p:cNvPr>
          <p:cNvSpPr>
            <a:spLocks xmlns:a="http://schemas.openxmlformats.org/drawingml/2006/main" noGrp="1"/>
          </p:cNvSpPr>
          <p:nvPr/>
        </p:nvSpPr>
        <p:spPr>
          <a:xfrm xmlns:a="http://schemas.openxmlformats.org/drawingml/2006/main">
            <a:off x="3524250" y="38481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06</a:t>
            </a:r>
          </a:p>
        </p:txBody>
      </p:sp>
      <p:sp>
        <p:nvSpPr>
          <p:cNvPr id="31" name="">
            <a:extLst xmlns:a="http://schemas.openxmlformats.org/drawingml/2006/main">
              <a:ext uri="{FF2B5EF4-FFF2-40B4-BE49-F238E27FC236}">
                <a16:creationId xmlns:a16="http://schemas.microsoft.com/office/drawing/2014/main" id="{1EDEC1CE-52A3-4208-9F5D-B88750D31BA3}"/>
              </a:ext>
            </a:extLst>
          </p:cNvPr>
          <p:cNvSpPr>
            <a:spLocks xmlns:a="http://schemas.openxmlformats.org/drawingml/2006/main" noGrp="1"/>
          </p:cNvSpPr>
          <p:nvPr/>
        </p:nvSpPr>
        <p:spPr>
          <a:xfrm xmlns:a="http://schemas.openxmlformats.org/drawingml/2006/main">
            <a:off x="3524250" y="41338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Serve</a:t>
            </a:r>
          </a:p>
        </p:txBody>
      </p:sp>
      <p:sp>
        <p:nvSpPr>
          <p:cNvPr id="32" name="">
            <a:extLst xmlns:a="http://schemas.openxmlformats.org/drawingml/2006/main">
              <a:ext uri="{FF2B5EF4-FFF2-40B4-BE49-F238E27FC236}">
                <a16:creationId xmlns:a16="http://schemas.microsoft.com/office/drawing/2014/main" id="{ADB081E8-BA49-4222-8A8E-487B1FD387AE}"/>
              </a:ext>
            </a:extLst>
          </p:cNvPr>
          <p:cNvSpPr>
            <a:spLocks xmlns:a="http://schemas.openxmlformats.org/drawingml/2006/main" noGrp="1"/>
          </p:cNvSpPr>
          <p:nvPr/>
        </p:nvSpPr>
        <p:spPr>
          <a:xfrm xmlns:a="http://schemas.openxmlformats.org/drawingml/2006/main">
            <a:off x="35242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Champion / challenger</a:t>
            </a:r>
          </a:p>
        </p:txBody>
      </p:sp>
      <p:sp>
        <p:nvSpPr>
          <p:cNvPr id="33" name="">
            <a:extLst xmlns:a="http://schemas.openxmlformats.org/drawingml/2006/main">
              <a:ext uri="{FF2B5EF4-FFF2-40B4-BE49-F238E27FC236}">
                <a16:creationId xmlns:a16="http://schemas.microsoft.com/office/drawing/2014/main" id="{5ABA6C53-64E9-421E-BAC1-3123E9D3470D}"/>
              </a:ext>
            </a:extLst>
          </p:cNvPr>
          <p:cNvSpPr>
            <a:spLocks xmlns:a="http://schemas.openxmlformats.org/drawingml/2006/main" noGrp="1"/>
          </p:cNvSpPr>
          <p:nvPr/>
        </p:nvSpPr>
        <p:spPr>
          <a:xfrm xmlns:a="http://schemas.openxmlformats.org/drawingml/2006/main">
            <a:off x="5753100" y="41148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34" name="">
            <a:extLst xmlns:a="http://schemas.openxmlformats.org/drawingml/2006/main">
              <a:ext uri="{FF2B5EF4-FFF2-40B4-BE49-F238E27FC236}">
                <a16:creationId xmlns:a16="http://schemas.microsoft.com/office/drawing/2014/main" id="{6BCFBA44-D7F5-48FF-993F-BF076809E41A}"/>
              </a:ext>
            </a:extLst>
          </p:cNvPr>
          <p:cNvSpPr>
            <a:spLocks xmlns:a="http://schemas.openxmlformats.org/drawingml/2006/main" noGrp="1"/>
          </p:cNvSpPr>
          <p:nvPr/>
        </p:nvSpPr>
        <p:spPr>
          <a:xfrm xmlns:a="http://schemas.openxmlformats.org/drawingml/2006/main">
            <a:off x="6153150" y="3676650"/>
            <a:ext cx="2400300" cy="1219200"/>
          </a:xfrm>
          <a:prstGeom xmlns:a="http://schemas.openxmlformats.org/drawingml/2006/main" prst="roundRect">
            <a:avLst>
              <a:gd name="adj" fmla="val 9375"/>
            </a:avLst>
          </a:prstGeom>
          <a:solidFill xmlns:a="http://schemas.openxmlformats.org/drawingml/2006/main">
            <a:srgbClr val="E7F7F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6F64F6A-5CF5-4510-85B8-AB46BD287F5E}"/>
              </a:ext>
            </a:extLst>
          </p:cNvPr>
          <p:cNvSpPr>
            <a:spLocks xmlns:a="http://schemas.openxmlformats.org/drawingml/2006/main" noGrp="1"/>
          </p:cNvSpPr>
          <p:nvPr/>
        </p:nvSpPr>
        <p:spPr>
          <a:xfrm xmlns:a="http://schemas.openxmlformats.org/drawingml/2006/main">
            <a:off x="6324600" y="38481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07</a:t>
            </a:r>
          </a:p>
        </p:txBody>
      </p:sp>
      <p:sp>
        <p:nvSpPr>
          <p:cNvPr id="36" name="">
            <a:extLst xmlns:a="http://schemas.openxmlformats.org/drawingml/2006/main">
              <a:ext uri="{FF2B5EF4-FFF2-40B4-BE49-F238E27FC236}">
                <a16:creationId xmlns:a16="http://schemas.microsoft.com/office/drawing/2014/main" id="{7DE5BCF7-2771-4A46-B533-B4383AB9BC46}"/>
              </a:ext>
            </a:extLst>
          </p:cNvPr>
          <p:cNvSpPr>
            <a:spLocks xmlns:a="http://schemas.openxmlformats.org/drawingml/2006/main" noGrp="1"/>
          </p:cNvSpPr>
          <p:nvPr/>
        </p:nvSpPr>
        <p:spPr>
          <a:xfrm xmlns:a="http://schemas.openxmlformats.org/drawingml/2006/main">
            <a:off x="6324600" y="41338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Monitor</a:t>
            </a:r>
          </a:p>
        </p:txBody>
      </p:sp>
      <p:sp>
        <p:nvSpPr>
          <p:cNvPr id="37" name="">
            <a:extLst xmlns:a="http://schemas.openxmlformats.org/drawingml/2006/main">
              <a:ext uri="{FF2B5EF4-FFF2-40B4-BE49-F238E27FC236}">
                <a16:creationId xmlns:a16="http://schemas.microsoft.com/office/drawing/2014/main" id="{0437129B-62FA-4253-8DC7-38F7866F211E}"/>
              </a:ext>
            </a:extLst>
          </p:cNvPr>
          <p:cNvSpPr>
            <a:spLocks xmlns:a="http://schemas.openxmlformats.org/drawingml/2006/main" noGrp="1"/>
          </p:cNvSpPr>
          <p:nvPr/>
        </p:nvSpPr>
        <p:spPr>
          <a:xfrm xmlns:a="http://schemas.openxmlformats.org/drawingml/2006/main">
            <a:off x="632460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Drift, latency, errors</a:t>
            </a:r>
          </a:p>
        </p:txBody>
      </p:sp>
      <p:sp>
        <p:nvSpPr>
          <p:cNvPr id="38" name="">
            <a:extLst xmlns:a="http://schemas.openxmlformats.org/drawingml/2006/main">
              <a:ext uri="{FF2B5EF4-FFF2-40B4-BE49-F238E27FC236}">
                <a16:creationId xmlns:a16="http://schemas.microsoft.com/office/drawing/2014/main" id="{0055D9C5-749F-4131-819E-BA1C18B188B8}"/>
              </a:ext>
            </a:extLst>
          </p:cNvPr>
          <p:cNvSpPr>
            <a:spLocks xmlns:a="http://schemas.openxmlformats.org/drawingml/2006/main" noGrp="1"/>
          </p:cNvSpPr>
          <p:nvPr/>
        </p:nvSpPr>
        <p:spPr>
          <a:xfrm xmlns:a="http://schemas.openxmlformats.org/drawingml/2006/main">
            <a:off x="8553450" y="41148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39" name="">
            <a:extLst xmlns:a="http://schemas.openxmlformats.org/drawingml/2006/main">
              <a:ext uri="{FF2B5EF4-FFF2-40B4-BE49-F238E27FC236}">
                <a16:creationId xmlns:a16="http://schemas.microsoft.com/office/drawing/2014/main" id="{C3B3EC63-FD05-46F0-AE21-8E9A369E0DBF}"/>
              </a:ext>
            </a:extLst>
          </p:cNvPr>
          <p:cNvSpPr>
            <a:spLocks xmlns:a="http://schemas.openxmlformats.org/drawingml/2006/main" noGrp="1"/>
          </p:cNvSpPr>
          <p:nvPr/>
        </p:nvSpPr>
        <p:spPr>
          <a:xfrm xmlns:a="http://schemas.openxmlformats.org/drawingml/2006/main">
            <a:off x="8953500" y="3676650"/>
            <a:ext cx="2400300" cy="1219200"/>
          </a:xfrm>
          <a:prstGeom xmlns:a="http://schemas.openxmlformats.org/drawingml/2006/main" prst="roundRect">
            <a:avLst>
              <a:gd name="adj" fmla="val 9375"/>
            </a:avLst>
          </a:prstGeom>
          <a:solidFill xmlns:a="http://schemas.openxmlformats.org/drawingml/2006/main">
            <a:srgbClr val="E7F7F3"/>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297E7EB-353D-458E-8281-93F604E504F4}"/>
              </a:ext>
            </a:extLst>
          </p:cNvPr>
          <p:cNvSpPr>
            <a:spLocks xmlns:a="http://schemas.openxmlformats.org/drawingml/2006/main" noGrp="1"/>
          </p:cNvSpPr>
          <p:nvPr/>
        </p:nvSpPr>
        <p:spPr>
          <a:xfrm xmlns:a="http://schemas.openxmlformats.org/drawingml/2006/main">
            <a:off x="9124950" y="38481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08</a:t>
            </a:r>
          </a:p>
        </p:txBody>
      </p:sp>
      <p:sp>
        <p:nvSpPr>
          <p:cNvPr id="41" name="">
            <a:extLst xmlns:a="http://schemas.openxmlformats.org/drawingml/2006/main">
              <a:ext uri="{FF2B5EF4-FFF2-40B4-BE49-F238E27FC236}">
                <a16:creationId xmlns:a16="http://schemas.microsoft.com/office/drawing/2014/main" id="{4F4E9986-A02D-4BCC-94A1-845C946F2288}"/>
              </a:ext>
            </a:extLst>
          </p:cNvPr>
          <p:cNvSpPr>
            <a:spLocks xmlns:a="http://schemas.openxmlformats.org/drawingml/2006/main" noGrp="1"/>
          </p:cNvSpPr>
          <p:nvPr/>
        </p:nvSpPr>
        <p:spPr>
          <a:xfrm xmlns:a="http://schemas.openxmlformats.org/drawingml/2006/main">
            <a:off x="9124950" y="4133850"/>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Respond</a:t>
            </a:r>
          </a:p>
        </p:txBody>
      </p:sp>
      <p:sp>
        <p:nvSpPr>
          <p:cNvPr id="42" name="">
            <a:extLst xmlns:a="http://schemas.openxmlformats.org/drawingml/2006/main">
              <a:ext uri="{FF2B5EF4-FFF2-40B4-BE49-F238E27FC236}">
                <a16:creationId xmlns:a16="http://schemas.microsoft.com/office/drawing/2014/main" id="{E13A7DB1-7230-43A0-B459-41888D091638}"/>
              </a:ext>
            </a:extLst>
          </p:cNvPr>
          <p:cNvSpPr>
            <a:spLocks xmlns:a="http://schemas.openxmlformats.org/drawingml/2006/main" noGrp="1"/>
          </p:cNvSpPr>
          <p:nvPr/>
        </p:nvSpPr>
        <p:spPr>
          <a:xfrm xmlns:a="http://schemas.openxmlformats.org/drawingml/2006/main">
            <a:off x="9124950" y="44386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4E6274"/>
                </a:solidFill>
              </a:defRPr>
            </a:pPr>
            <a:r>
              <a:rPr sz="1200" b="0">
                <a:solidFill>
                  <a:srgbClr val="4E6274"/>
                </a:solidFill>
              </a:rPr>
              <a:t>Rollback or retrain</a:t>
            </a:r>
          </a:p>
        </p:txBody>
      </p:sp>
      <p:sp>
        <p:nvSpPr>
          <p:cNvPr id="43" name="">
            <a:extLst xmlns:a="http://schemas.openxmlformats.org/drawingml/2006/main">
              <a:ext uri="{FF2B5EF4-FFF2-40B4-BE49-F238E27FC236}">
                <a16:creationId xmlns:a16="http://schemas.microsoft.com/office/drawing/2014/main" id="{13D34495-CC81-452A-8E31-C2DF75BAA471}"/>
              </a:ext>
            </a:extLst>
          </p:cNvPr>
          <p:cNvSpPr>
            <a:spLocks xmlns:a="http://schemas.openxmlformats.org/drawingml/2006/main" noGrp="1"/>
          </p:cNvSpPr>
          <p:nvPr/>
        </p:nvSpPr>
        <p:spPr>
          <a:xfrm xmlns:a="http://schemas.openxmlformats.org/drawingml/2006/main">
            <a:off x="5810250" y="3105150"/>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44" name="">
            <a:extLst xmlns:a="http://schemas.openxmlformats.org/drawingml/2006/main">
              <a:ext uri="{FF2B5EF4-FFF2-40B4-BE49-F238E27FC236}">
                <a16:creationId xmlns:a16="http://schemas.microsoft.com/office/drawing/2014/main" id="{5A5210BB-3843-417D-860E-0A791A9237B3}"/>
              </a:ext>
            </a:extLst>
          </p:cNvPr>
          <p:cNvSpPr>
            <a:spLocks xmlns:a="http://schemas.openxmlformats.org/drawingml/2006/main" noGrp="1"/>
          </p:cNvSpPr>
          <p:nvPr/>
        </p:nvSpPr>
        <p:spPr>
          <a:xfrm xmlns:a="http://schemas.openxmlformats.org/drawingml/2006/main">
            <a:off x="552450" y="55435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7EAF"/>
                </a:solidFill>
              </a:defRPr>
            </a:pPr>
            <a:r>
              <a:rPr sz="1575" b="1">
                <a:solidFill>
                  <a:srgbClr val="177EAF"/>
                </a:solidFill>
              </a:rPr>
              <a:t>The deployment decision is governed; the rollback path is explicit.</a:t>
            </a:r>
          </a:p>
        </p:txBody>
      </p:sp>
    </p:spTree>
    <p:extLst>
      <p:ext uri="{BB962C8B-B14F-4D97-AF65-F5344CB8AC3E}">
        <p14:creationId xmlns:p14="http://schemas.microsoft.com/office/powerpoint/2010/main" val="14258231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DB9DE-ADFE-4503-AF39-6881DE571E4F}"/>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05  /  REAL-TIME INFERENCE AND ROLLOUT</a:t>
            </a:r>
          </a:p>
        </p:txBody>
      </p:sp>
      <p:sp>
        <p:nvSpPr>
          <p:cNvPr id="2" name="">
            <a:extLst xmlns:a="http://schemas.openxmlformats.org/drawingml/2006/main">
              <a:ext uri="{FF2B5EF4-FFF2-40B4-BE49-F238E27FC236}">
                <a16:creationId xmlns:a16="http://schemas.microsoft.com/office/drawing/2014/main" id="{C1F8E46B-C089-4ACF-A4A6-4E45E319F2A5}"/>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Inference is designed to fail safely</a:t>
            </a:r>
          </a:p>
        </p:txBody>
      </p:sp>
      <p:sp>
        <p:nvSpPr>
          <p:cNvPr id="3" name="">
            <a:extLst xmlns:a="http://schemas.openxmlformats.org/drawingml/2006/main">
              <a:ext uri="{FF2B5EF4-FFF2-40B4-BE49-F238E27FC236}">
                <a16:creationId xmlns:a16="http://schemas.microsoft.com/office/drawing/2014/main" id="{FFA89F68-D247-4B0D-8098-3709C02E3741}"/>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C60B3B-E613-43C3-8ECB-5D2C33EBBEE0}"/>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06</a:t>
            </a:r>
          </a:p>
        </p:txBody>
      </p:sp>
      <p:sp>
        <p:nvSpPr>
          <p:cNvPr id="5" name="">
            <a:extLst xmlns:a="http://schemas.openxmlformats.org/drawingml/2006/main">
              <a:ext uri="{FF2B5EF4-FFF2-40B4-BE49-F238E27FC236}">
                <a16:creationId xmlns:a16="http://schemas.microsoft.com/office/drawing/2014/main" id="{BF94266F-E572-46CC-80ED-C2B05BEC013A}"/>
              </a:ext>
            </a:extLst>
          </p:cNvPr>
          <p:cNvSpPr>
            <a:spLocks xmlns:a="http://schemas.openxmlformats.org/drawingml/2006/main" noGrp="1"/>
          </p:cNvSpPr>
          <p:nvPr/>
        </p:nvSpPr>
        <p:spPr>
          <a:xfrm xmlns:a="http://schemas.openxmlformats.org/drawingml/2006/main">
            <a:off x="552450" y="1790700"/>
            <a:ext cx="4953000" cy="3143250"/>
          </a:xfrm>
          <a:prstGeom xmlns:a="http://schemas.openxmlformats.org/drawingml/2006/main" prst="roundRect">
            <a:avLst>
              <a:gd name="adj" fmla="val 3636"/>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125761-307E-463D-8821-263E8D41CD9C}"/>
              </a:ext>
            </a:extLst>
          </p:cNvPr>
          <p:cNvSpPr>
            <a:spLocks xmlns:a="http://schemas.openxmlformats.org/drawingml/2006/main" noGrp="1"/>
          </p:cNvSpPr>
          <p:nvPr/>
        </p:nvSpPr>
        <p:spPr>
          <a:xfrm xmlns:a="http://schemas.openxmlformats.org/drawingml/2006/main">
            <a:off x="762000" y="200025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Serving contract</a:t>
            </a:r>
          </a:p>
        </p:txBody>
      </p:sp>
      <p:sp>
        <p:nvSpPr>
          <p:cNvPr id="7" name="">
            <a:extLst xmlns:a="http://schemas.openxmlformats.org/drawingml/2006/main">
              <a:ext uri="{FF2B5EF4-FFF2-40B4-BE49-F238E27FC236}">
                <a16:creationId xmlns:a16="http://schemas.microsoft.com/office/drawing/2014/main" id="{525AF61B-DE43-4671-8417-504BDD2B65ED}"/>
              </a:ext>
            </a:extLst>
          </p:cNvPr>
          <p:cNvSpPr>
            <a:spLocks xmlns:a="http://schemas.openxmlformats.org/drawingml/2006/main" noGrp="1"/>
          </p:cNvSpPr>
          <p:nvPr/>
        </p:nvSpPr>
        <p:spPr>
          <a:xfrm xmlns:a="http://schemas.openxmlformats.org/drawingml/2006/main">
            <a:off x="762000" y="2552700"/>
            <a:ext cx="45339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Validate the request schema</a:t>
            </a:r>
          </a:p>
          <a:p xmlns:a="http://schemas.openxmlformats.org/drawingml/2006/main">
            <a:pPr algn="l">
              <a:defRPr sz="1275" b="0">
                <a:solidFill>
                  <a:srgbClr val="4E6274"/>
                </a:solidFill>
              </a:defRPr>
            </a:pPr>
            <a:r>
              <a:rPr sz="1275" b="0">
                <a:solidFill>
                  <a:srgbClr val="4E6274"/>
                </a:solidFill>
              </a:rPr>
              <a:t>Load the active artifact</a:t>
            </a:r>
          </a:p>
          <a:p xmlns:a="http://schemas.openxmlformats.org/drawingml/2006/main">
            <a:pPr algn="l">
              <a:defRPr sz="1275" b="0">
                <a:solidFill>
                  <a:srgbClr val="4E6274"/>
                </a:solidFill>
              </a:defRPr>
            </a:pPr>
            <a:r>
              <a:rPr sz="1275" b="0">
                <a:solidFill>
                  <a:srgbClr val="4E6274"/>
                </a:solidFill>
              </a:rPr>
              <a:t>Return model metadata with the score</a:t>
            </a:r>
          </a:p>
          <a:p xmlns:a="http://schemas.openxmlformats.org/drawingml/2006/main">
            <a:pPr algn="l">
              <a:defRPr sz="1275" b="0">
                <a:solidFill>
                  <a:srgbClr val="4E6274"/>
                </a:solidFill>
              </a:defRPr>
            </a:pPr>
            <a:r>
              <a:rPr sz="1275" b="0">
                <a:solidFill>
                  <a:srgbClr val="4E6274"/>
                </a:solidFill>
              </a:rPr>
              <a:t>Emit prediction and audit events</a:t>
            </a:r>
          </a:p>
          <a:p xmlns:a="http://schemas.openxmlformats.org/drawingml/2006/main">
            <a:pPr algn="l">
              <a:defRPr sz="1275" b="0">
                <a:solidFill>
                  <a:srgbClr val="4E6274"/>
                </a:solidFill>
              </a:defRPr>
            </a:pPr>
            <a:r>
              <a:rPr sz="1275" b="0">
                <a:solidFill>
                  <a:srgbClr val="4E6274"/>
                </a:solidFill>
              </a:rPr>
              <a:t>Record latency and monitoring signals</a:t>
            </a:r>
          </a:p>
        </p:txBody>
      </p:sp>
      <p:sp>
        <p:nvSpPr>
          <p:cNvPr id="8" name="">
            <a:extLst xmlns:a="http://schemas.openxmlformats.org/drawingml/2006/main">
              <a:ext uri="{FF2B5EF4-FFF2-40B4-BE49-F238E27FC236}">
                <a16:creationId xmlns:a16="http://schemas.microsoft.com/office/drawing/2014/main" id="{64440252-A69B-44F8-A037-1F3099D3E1E5}"/>
              </a:ext>
            </a:extLst>
          </p:cNvPr>
          <p:cNvSpPr>
            <a:spLocks xmlns:a="http://schemas.openxmlformats.org/drawingml/2006/main" noGrp="1"/>
          </p:cNvSpPr>
          <p:nvPr/>
        </p:nvSpPr>
        <p:spPr>
          <a:xfrm xmlns:a="http://schemas.openxmlformats.org/drawingml/2006/main">
            <a:off x="6134100" y="1790700"/>
            <a:ext cx="5505450" cy="3143250"/>
          </a:xfrm>
          <a:prstGeom xmlns:a="http://schemas.openxmlformats.org/drawingml/2006/main" prst="roundRect">
            <a:avLst>
              <a:gd name="adj" fmla="val 3636"/>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B1A524-4DCB-4520-B7E9-CA3296390202}"/>
              </a:ext>
            </a:extLst>
          </p:cNvPr>
          <p:cNvSpPr>
            <a:spLocks xmlns:a="http://schemas.openxmlformats.org/drawingml/2006/main" noGrp="1"/>
          </p:cNvSpPr>
          <p:nvPr/>
        </p:nvSpPr>
        <p:spPr>
          <a:xfrm xmlns:a="http://schemas.openxmlformats.org/drawingml/2006/main">
            <a:off x="6343650" y="2000250"/>
            <a:ext cx="508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Safe rollout controls</a:t>
            </a:r>
          </a:p>
        </p:txBody>
      </p:sp>
      <p:sp>
        <p:nvSpPr>
          <p:cNvPr id="10" name="">
            <a:extLst xmlns:a="http://schemas.openxmlformats.org/drawingml/2006/main">
              <a:ext uri="{FF2B5EF4-FFF2-40B4-BE49-F238E27FC236}">
                <a16:creationId xmlns:a16="http://schemas.microsoft.com/office/drawing/2014/main" id="{3C77A4B8-60EC-4E65-85AA-52227846918E}"/>
              </a:ext>
            </a:extLst>
          </p:cNvPr>
          <p:cNvSpPr>
            <a:spLocks xmlns:a="http://schemas.openxmlformats.org/drawingml/2006/main" noGrp="1"/>
          </p:cNvSpPr>
          <p:nvPr/>
        </p:nvSpPr>
        <p:spPr>
          <a:xfrm xmlns:a="http://schemas.openxmlformats.org/drawingml/2006/main">
            <a:off x="6343650" y="2552700"/>
            <a:ext cx="50863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Champion / challenger routing</a:t>
            </a:r>
          </a:p>
          <a:p xmlns:a="http://schemas.openxmlformats.org/drawingml/2006/main">
            <a:pPr algn="l">
              <a:defRPr sz="1275" b="0">
                <a:solidFill>
                  <a:srgbClr val="4E6274"/>
                </a:solidFill>
              </a:defRPr>
            </a:pPr>
            <a:r>
              <a:rPr sz="1275" b="0">
                <a:solidFill>
                  <a:srgbClr val="4E6274"/>
                </a:solidFill>
              </a:rPr>
              <a:t>Canary traffic split</a:t>
            </a:r>
          </a:p>
          <a:p xmlns:a="http://schemas.openxmlformats.org/drawingml/2006/main">
            <a:pPr algn="l">
              <a:defRPr sz="1275" b="0">
                <a:solidFill>
                  <a:srgbClr val="4E6274"/>
                </a:solidFill>
              </a:defRPr>
            </a:pPr>
            <a:r>
              <a:rPr sz="1275" b="0">
                <a:solidFill>
                  <a:srgbClr val="4E6274"/>
                </a:solidFill>
              </a:rPr>
              <a:t>Rollback target in deployment metadata</a:t>
            </a:r>
          </a:p>
          <a:p xmlns:a="http://schemas.openxmlformats.org/drawingml/2006/main">
            <a:pPr algn="l">
              <a:defRPr sz="1275" b="0">
                <a:solidFill>
                  <a:srgbClr val="4E6274"/>
                </a:solidFill>
              </a:defRPr>
            </a:pPr>
            <a:r>
              <a:rPr sz="1275" b="0">
                <a:solidFill>
                  <a:srgbClr val="4E6274"/>
                </a:solidFill>
              </a:rPr>
              <a:t>Rollback recommendation from latency, error, and drift signals</a:t>
            </a:r>
          </a:p>
          <a:p xmlns:a="http://schemas.openxmlformats.org/drawingml/2006/main">
            <a:pPr algn="l">
              <a:defRPr sz="1275" b="0">
                <a:solidFill>
                  <a:srgbClr val="4E6274"/>
                </a:solidFill>
              </a:defRPr>
            </a:pPr>
            <a:r>
              <a:rPr sz="1275" b="0">
                <a:solidFill>
                  <a:srgbClr val="4E6274"/>
                </a:solidFill>
              </a:rPr>
              <a:t>Deterministic rules fallback if model is unavailable</a:t>
            </a:r>
          </a:p>
        </p:txBody>
      </p:sp>
      <p:sp>
        <p:nvSpPr>
          <p:cNvPr id="11" name="">
            <a:extLst xmlns:a="http://schemas.openxmlformats.org/drawingml/2006/main">
              <a:ext uri="{FF2B5EF4-FFF2-40B4-BE49-F238E27FC236}">
                <a16:creationId xmlns:a16="http://schemas.microsoft.com/office/drawing/2014/main" id="{3A4C9BAF-702B-4355-B508-122A83854CCB}"/>
              </a:ext>
            </a:extLst>
          </p:cNvPr>
          <p:cNvSpPr>
            <a:spLocks xmlns:a="http://schemas.openxmlformats.org/drawingml/2006/main" noGrp="1"/>
          </p:cNvSpPr>
          <p:nvPr/>
        </p:nvSpPr>
        <p:spPr>
          <a:xfrm xmlns:a="http://schemas.openxmlformats.org/drawingml/2006/main">
            <a:off x="552450" y="5334000"/>
            <a:ext cx="11087100" cy="533400"/>
          </a:xfrm>
          <a:prstGeom xmlns:a="http://schemas.openxmlformats.org/drawingml/2006/main" prst="roundRect">
            <a:avLst>
              <a:gd name="adj" fmla="val 21429"/>
            </a:avLst>
          </a:prstGeom>
          <a:solidFill xmlns:a="http://schemas.openxmlformats.org/drawingml/2006/main">
            <a:srgbClr val="FFF3D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686E3D-E998-42B9-9323-F3037323B5CB}"/>
              </a:ext>
            </a:extLst>
          </p:cNvPr>
          <p:cNvSpPr>
            <a:spLocks xmlns:a="http://schemas.openxmlformats.org/drawingml/2006/main" noGrp="1"/>
          </p:cNvSpPr>
          <p:nvPr/>
        </p:nvSpPr>
        <p:spPr>
          <a:xfrm xmlns:a="http://schemas.openxmlformats.org/drawingml/2006/main">
            <a:off x="781050" y="54864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C87800"/>
                </a:solidFill>
              </a:defRPr>
            </a:pPr>
            <a:r>
              <a:rPr sz="1350" b="1">
                <a:solidFill>
                  <a:srgbClr val="C87800"/>
                </a:solidFill>
              </a:rPr>
              <a:t>Live local finding: the service is healthy, but currently in explicit rules-fallback mode because no model URI is configured.</a:t>
            </a:r>
          </a:p>
        </p:txBody>
      </p:sp>
    </p:spTree>
    <p:extLst>
      <p:ext uri="{BB962C8B-B14F-4D97-AF65-F5344CB8AC3E}">
        <p14:creationId xmlns:p14="http://schemas.microsoft.com/office/powerpoint/2010/main" val="2770769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2A1C4C-5A96-47F3-B3C5-8B8EB3B77FE3}"/>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06  /  RAG FLOW</a:t>
            </a:r>
          </a:p>
        </p:txBody>
      </p:sp>
      <p:sp>
        <p:nvSpPr>
          <p:cNvPr id="2" name="">
            <a:extLst xmlns:a="http://schemas.openxmlformats.org/drawingml/2006/main">
              <a:ext uri="{FF2B5EF4-FFF2-40B4-BE49-F238E27FC236}">
                <a16:creationId xmlns:a16="http://schemas.microsoft.com/office/drawing/2014/main" id="{895D23F6-007D-42A6-9F6F-F286AA714639}"/>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LLMOps: grounded answers with retrieval, safety, and audit</a:t>
            </a:r>
          </a:p>
        </p:txBody>
      </p:sp>
      <p:sp>
        <p:nvSpPr>
          <p:cNvPr id="3" name="">
            <a:extLst xmlns:a="http://schemas.openxmlformats.org/drawingml/2006/main">
              <a:ext uri="{FF2B5EF4-FFF2-40B4-BE49-F238E27FC236}">
                <a16:creationId xmlns:a16="http://schemas.microsoft.com/office/drawing/2014/main" id="{54117BFB-8121-4102-BCA7-7563DA93819D}"/>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122C01-38B4-4DB4-9BB3-BF5C1B9CD25E}"/>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07</a:t>
            </a:r>
          </a:p>
        </p:txBody>
      </p:sp>
      <p:sp>
        <p:nvSpPr>
          <p:cNvPr id="5" name="">
            <a:extLst xmlns:a="http://schemas.openxmlformats.org/drawingml/2006/main">
              <a:ext uri="{FF2B5EF4-FFF2-40B4-BE49-F238E27FC236}">
                <a16:creationId xmlns:a16="http://schemas.microsoft.com/office/drawing/2014/main" id="{BDE88F5C-5480-4804-9DDC-15C63AB94DCD}"/>
              </a:ext>
            </a:extLst>
          </p:cNvPr>
          <p:cNvSpPr>
            <a:spLocks xmlns:a="http://schemas.openxmlformats.org/drawingml/2006/main" noGrp="1"/>
          </p:cNvSpPr>
          <p:nvPr/>
        </p:nvSpPr>
        <p:spPr>
          <a:xfrm xmlns:a="http://schemas.openxmlformats.org/drawingml/2006/main">
            <a:off x="552450" y="2333625"/>
            <a:ext cx="1524000" cy="1752600"/>
          </a:xfrm>
          <a:prstGeom xmlns:a="http://schemas.openxmlformats.org/drawingml/2006/main" prst="roundRect">
            <a:avLst>
              <a:gd name="adj" fmla="val 7500"/>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9B6FD1-93ED-4026-B11D-CB95E4FE32B9}"/>
              </a:ext>
            </a:extLst>
          </p:cNvPr>
          <p:cNvSpPr>
            <a:spLocks xmlns:a="http://schemas.openxmlformats.org/drawingml/2006/main" noGrp="1"/>
          </p:cNvSpPr>
          <p:nvPr/>
        </p:nvSpPr>
        <p:spPr>
          <a:xfrm xmlns:a="http://schemas.openxmlformats.org/drawingml/2006/main">
            <a:off x="7239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1</a:t>
            </a:r>
          </a:p>
        </p:txBody>
      </p:sp>
      <p:sp>
        <p:nvSpPr>
          <p:cNvPr id="7" name="">
            <a:extLst xmlns:a="http://schemas.openxmlformats.org/drawingml/2006/main">
              <a:ext uri="{FF2B5EF4-FFF2-40B4-BE49-F238E27FC236}">
                <a16:creationId xmlns:a16="http://schemas.microsoft.com/office/drawing/2014/main" id="{F233F26D-DE45-4ECF-B09C-A9E6B294D64F}"/>
              </a:ext>
            </a:extLst>
          </p:cNvPr>
          <p:cNvSpPr>
            <a:spLocks xmlns:a="http://schemas.openxmlformats.org/drawingml/2006/main" noGrp="1"/>
          </p:cNvSpPr>
          <p:nvPr/>
        </p:nvSpPr>
        <p:spPr>
          <a:xfrm xmlns:a="http://schemas.openxmlformats.org/drawingml/2006/main">
            <a:off x="7239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Question</a:t>
            </a:r>
          </a:p>
        </p:txBody>
      </p:sp>
      <p:sp>
        <p:nvSpPr>
          <p:cNvPr id="8" name="">
            <a:extLst xmlns:a="http://schemas.openxmlformats.org/drawingml/2006/main">
              <a:ext uri="{FF2B5EF4-FFF2-40B4-BE49-F238E27FC236}">
                <a16:creationId xmlns:a16="http://schemas.microsoft.com/office/drawing/2014/main" id="{26167154-C7BD-48B0-B4A3-263BF26863EA}"/>
              </a:ext>
            </a:extLst>
          </p:cNvPr>
          <p:cNvSpPr>
            <a:spLocks xmlns:a="http://schemas.openxmlformats.org/drawingml/2006/main" noGrp="1"/>
          </p:cNvSpPr>
          <p:nvPr/>
        </p:nvSpPr>
        <p:spPr>
          <a:xfrm xmlns:a="http://schemas.openxmlformats.org/drawingml/2006/main">
            <a:off x="7239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Reviewer asks a policy question</a:t>
            </a:r>
          </a:p>
        </p:txBody>
      </p:sp>
      <p:sp>
        <p:nvSpPr>
          <p:cNvPr id="9" name="">
            <a:extLst xmlns:a="http://schemas.openxmlformats.org/drawingml/2006/main">
              <a:ext uri="{FF2B5EF4-FFF2-40B4-BE49-F238E27FC236}">
                <a16:creationId xmlns:a16="http://schemas.microsoft.com/office/drawing/2014/main" id="{06E6B679-946B-470E-812C-82BB8751E944}"/>
              </a:ext>
            </a:extLst>
          </p:cNvPr>
          <p:cNvSpPr>
            <a:spLocks xmlns:a="http://schemas.openxmlformats.org/drawingml/2006/main" noGrp="1"/>
          </p:cNvSpPr>
          <p:nvPr/>
        </p:nvSpPr>
        <p:spPr>
          <a:xfrm xmlns:a="http://schemas.openxmlformats.org/drawingml/2006/main">
            <a:off x="2076450" y="30099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0" name="">
            <a:extLst xmlns:a="http://schemas.openxmlformats.org/drawingml/2006/main">
              <a:ext uri="{FF2B5EF4-FFF2-40B4-BE49-F238E27FC236}">
                <a16:creationId xmlns:a16="http://schemas.microsoft.com/office/drawing/2014/main" id="{4DA26412-73DF-49DB-8CF8-ABC4C2444EDA}"/>
              </a:ext>
            </a:extLst>
          </p:cNvPr>
          <p:cNvSpPr>
            <a:spLocks xmlns:a="http://schemas.openxmlformats.org/drawingml/2006/main" noGrp="1"/>
          </p:cNvSpPr>
          <p:nvPr/>
        </p:nvSpPr>
        <p:spPr>
          <a:xfrm xmlns:a="http://schemas.openxmlformats.org/drawingml/2006/main">
            <a:off x="2381250" y="2333625"/>
            <a:ext cx="1524000" cy="1752600"/>
          </a:xfrm>
          <a:prstGeom xmlns:a="http://schemas.openxmlformats.org/drawingml/2006/main" prst="roundRect">
            <a:avLst>
              <a:gd name="adj" fmla="val 7500"/>
            </a:avLst>
          </a:prstGeom>
          <a:solidFill xmlns:a="http://schemas.openxmlformats.org/drawingml/2006/main">
            <a:srgbClr val="EAF5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8AD8B8E-D8B9-4AD3-AC97-9C9E17F0337C}"/>
              </a:ext>
            </a:extLst>
          </p:cNvPr>
          <p:cNvSpPr>
            <a:spLocks xmlns:a="http://schemas.openxmlformats.org/drawingml/2006/main" noGrp="1"/>
          </p:cNvSpPr>
          <p:nvPr/>
        </p:nvSpPr>
        <p:spPr>
          <a:xfrm xmlns:a="http://schemas.openxmlformats.org/drawingml/2006/main">
            <a:off x="25527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2</a:t>
            </a:r>
          </a:p>
        </p:txBody>
      </p:sp>
      <p:sp>
        <p:nvSpPr>
          <p:cNvPr id="12" name="">
            <a:extLst xmlns:a="http://schemas.openxmlformats.org/drawingml/2006/main">
              <a:ext uri="{FF2B5EF4-FFF2-40B4-BE49-F238E27FC236}">
                <a16:creationId xmlns:a16="http://schemas.microsoft.com/office/drawing/2014/main" id="{921EC4DA-2927-47B9-A2CB-E2BDA73EE6B1}"/>
              </a:ext>
            </a:extLst>
          </p:cNvPr>
          <p:cNvSpPr>
            <a:spLocks xmlns:a="http://schemas.openxmlformats.org/drawingml/2006/main" noGrp="1"/>
          </p:cNvSpPr>
          <p:nvPr/>
        </p:nvSpPr>
        <p:spPr>
          <a:xfrm xmlns:a="http://schemas.openxmlformats.org/drawingml/2006/main">
            <a:off x="25527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Prompt</a:t>
            </a:r>
          </a:p>
        </p:txBody>
      </p:sp>
      <p:sp>
        <p:nvSpPr>
          <p:cNvPr id="13" name="">
            <a:extLst xmlns:a="http://schemas.openxmlformats.org/drawingml/2006/main">
              <a:ext uri="{FF2B5EF4-FFF2-40B4-BE49-F238E27FC236}">
                <a16:creationId xmlns:a16="http://schemas.microsoft.com/office/drawing/2014/main" id="{DC503789-2D31-47BB-9784-6643CD0B0A05}"/>
              </a:ext>
            </a:extLst>
          </p:cNvPr>
          <p:cNvSpPr>
            <a:spLocks xmlns:a="http://schemas.openxmlformats.org/drawingml/2006/main" noGrp="1"/>
          </p:cNvSpPr>
          <p:nvPr/>
        </p:nvSpPr>
        <p:spPr>
          <a:xfrm xmlns:a="http://schemas.openxmlformats.org/drawingml/2006/main">
            <a:off x="25527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Fetch approved template</a:t>
            </a:r>
          </a:p>
        </p:txBody>
      </p:sp>
      <p:sp>
        <p:nvSpPr>
          <p:cNvPr id="14" name="">
            <a:extLst xmlns:a="http://schemas.openxmlformats.org/drawingml/2006/main">
              <a:ext uri="{FF2B5EF4-FFF2-40B4-BE49-F238E27FC236}">
                <a16:creationId xmlns:a16="http://schemas.microsoft.com/office/drawing/2014/main" id="{0333E7E1-6351-48F2-B305-1732A2FE9FE6}"/>
              </a:ext>
            </a:extLst>
          </p:cNvPr>
          <p:cNvSpPr>
            <a:spLocks xmlns:a="http://schemas.openxmlformats.org/drawingml/2006/main" noGrp="1"/>
          </p:cNvSpPr>
          <p:nvPr/>
        </p:nvSpPr>
        <p:spPr>
          <a:xfrm xmlns:a="http://schemas.openxmlformats.org/drawingml/2006/main">
            <a:off x="3905250" y="30099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5" name="">
            <a:extLst xmlns:a="http://schemas.openxmlformats.org/drawingml/2006/main">
              <a:ext uri="{FF2B5EF4-FFF2-40B4-BE49-F238E27FC236}">
                <a16:creationId xmlns:a16="http://schemas.microsoft.com/office/drawing/2014/main" id="{BD29A80F-D2BF-4C1B-91BE-0606449F058C}"/>
              </a:ext>
            </a:extLst>
          </p:cNvPr>
          <p:cNvSpPr>
            <a:spLocks xmlns:a="http://schemas.openxmlformats.org/drawingml/2006/main" noGrp="1"/>
          </p:cNvSpPr>
          <p:nvPr/>
        </p:nvSpPr>
        <p:spPr>
          <a:xfrm xmlns:a="http://schemas.openxmlformats.org/drawingml/2006/main">
            <a:off x="4210050" y="2333625"/>
            <a:ext cx="1524000" cy="1752600"/>
          </a:xfrm>
          <a:prstGeom xmlns:a="http://schemas.openxmlformats.org/drawingml/2006/main" prst="roundRect">
            <a:avLst>
              <a:gd name="adj" fmla="val 7500"/>
            </a:avLst>
          </a:prstGeom>
          <a:solidFill xmlns:a="http://schemas.openxmlformats.org/drawingml/2006/main">
            <a:srgbClr val="E7F7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8D8A2B-1986-417F-A0CB-87A340DCC9FB}"/>
              </a:ext>
            </a:extLst>
          </p:cNvPr>
          <p:cNvSpPr>
            <a:spLocks xmlns:a="http://schemas.openxmlformats.org/drawingml/2006/main" noGrp="1"/>
          </p:cNvSpPr>
          <p:nvPr/>
        </p:nvSpPr>
        <p:spPr>
          <a:xfrm xmlns:a="http://schemas.openxmlformats.org/drawingml/2006/main">
            <a:off x="43815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3</a:t>
            </a:r>
          </a:p>
        </p:txBody>
      </p:sp>
      <p:sp>
        <p:nvSpPr>
          <p:cNvPr id="17" name="">
            <a:extLst xmlns:a="http://schemas.openxmlformats.org/drawingml/2006/main">
              <a:ext uri="{FF2B5EF4-FFF2-40B4-BE49-F238E27FC236}">
                <a16:creationId xmlns:a16="http://schemas.microsoft.com/office/drawing/2014/main" id="{EF2556C7-28B4-489F-B471-356BB1660AE9}"/>
              </a:ext>
            </a:extLst>
          </p:cNvPr>
          <p:cNvSpPr>
            <a:spLocks xmlns:a="http://schemas.openxmlformats.org/drawingml/2006/main" noGrp="1"/>
          </p:cNvSpPr>
          <p:nvPr/>
        </p:nvSpPr>
        <p:spPr>
          <a:xfrm xmlns:a="http://schemas.openxmlformats.org/drawingml/2006/main">
            <a:off x="43815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Retrieve</a:t>
            </a:r>
          </a:p>
        </p:txBody>
      </p:sp>
      <p:sp>
        <p:nvSpPr>
          <p:cNvPr id="18" name="">
            <a:extLst xmlns:a="http://schemas.openxmlformats.org/drawingml/2006/main">
              <a:ext uri="{FF2B5EF4-FFF2-40B4-BE49-F238E27FC236}">
                <a16:creationId xmlns:a16="http://schemas.microsoft.com/office/drawing/2014/main" id="{BFBCBE95-BD0C-41EC-A1D1-0236B567FF35}"/>
              </a:ext>
            </a:extLst>
          </p:cNvPr>
          <p:cNvSpPr>
            <a:spLocks xmlns:a="http://schemas.openxmlformats.org/drawingml/2006/main" noGrp="1"/>
          </p:cNvSpPr>
          <p:nvPr/>
        </p:nvSpPr>
        <p:spPr>
          <a:xfrm xmlns:a="http://schemas.openxmlformats.org/drawingml/2006/main">
            <a:off x="43815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Role-filtered top-k chunks</a:t>
            </a:r>
          </a:p>
        </p:txBody>
      </p:sp>
      <p:sp>
        <p:nvSpPr>
          <p:cNvPr id="19" name="">
            <a:extLst xmlns:a="http://schemas.openxmlformats.org/drawingml/2006/main">
              <a:ext uri="{FF2B5EF4-FFF2-40B4-BE49-F238E27FC236}">
                <a16:creationId xmlns:a16="http://schemas.microsoft.com/office/drawing/2014/main" id="{106E7B52-F706-49E4-A809-031A8A552C5C}"/>
              </a:ext>
            </a:extLst>
          </p:cNvPr>
          <p:cNvSpPr>
            <a:spLocks xmlns:a="http://schemas.openxmlformats.org/drawingml/2006/main" noGrp="1"/>
          </p:cNvSpPr>
          <p:nvPr/>
        </p:nvSpPr>
        <p:spPr>
          <a:xfrm xmlns:a="http://schemas.openxmlformats.org/drawingml/2006/main">
            <a:off x="5734050" y="30099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20" name="">
            <a:extLst xmlns:a="http://schemas.openxmlformats.org/drawingml/2006/main">
              <a:ext uri="{FF2B5EF4-FFF2-40B4-BE49-F238E27FC236}">
                <a16:creationId xmlns:a16="http://schemas.microsoft.com/office/drawing/2014/main" id="{8902C412-CF76-49AC-A56C-9BE0C477F036}"/>
              </a:ext>
            </a:extLst>
          </p:cNvPr>
          <p:cNvSpPr>
            <a:spLocks xmlns:a="http://schemas.openxmlformats.org/drawingml/2006/main" noGrp="1"/>
          </p:cNvSpPr>
          <p:nvPr/>
        </p:nvSpPr>
        <p:spPr>
          <a:xfrm xmlns:a="http://schemas.openxmlformats.org/drawingml/2006/main">
            <a:off x="6038850" y="2333625"/>
            <a:ext cx="1524000" cy="1752600"/>
          </a:xfrm>
          <a:prstGeom xmlns:a="http://schemas.openxmlformats.org/drawingml/2006/main" prst="roundRect">
            <a:avLst>
              <a:gd name="adj" fmla="val 7500"/>
            </a:avLst>
          </a:prstGeom>
          <a:solidFill xmlns:a="http://schemas.openxmlformats.org/drawingml/2006/main">
            <a:srgbClr val="EAF5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397D67-0577-4413-A65B-2F322528C152}"/>
              </a:ext>
            </a:extLst>
          </p:cNvPr>
          <p:cNvSpPr>
            <a:spLocks xmlns:a="http://schemas.openxmlformats.org/drawingml/2006/main" noGrp="1"/>
          </p:cNvSpPr>
          <p:nvPr/>
        </p:nvSpPr>
        <p:spPr>
          <a:xfrm xmlns:a="http://schemas.openxmlformats.org/drawingml/2006/main">
            <a:off x="62103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4</a:t>
            </a:r>
          </a:p>
        </p:txBody>
      </p:sp>
      <p:sp>
        <p:nvSpPr>
          <p:cNvPr id="22" name="">
            <a:extLst xmlns:a="http://schemas.openxmlformats.org/drawingml/2006/main">
              <a:ext uri="{FF2B5EF4-FFF2-40B4-BE49-F238E27FC236}">
                <a16:creationId xmlns:a16="http://schemas.microsoft.com/office/drawing/2014/main" id="{850869E3-F978-4785-BCF4-7AB6DDB3D0DD}"/>
              </a:ext>
            </a:extLst>
          </p:cNvPr>
          <p:cNvSpPr>
            <a:spLocks xmlns:a="http://schemas.openxmlformats.org/drawingml/2006/main" noGrp="1"/>
          </p:cNvSpPr>
          <p:nvPr/>
        </p:nvSpPr>
        <p:spPr>
          <a:xfrm xmlns:a="http://schemas.openxmlformats.org/drawingml/2006/main">
            <a:off x="62103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Answer</a:t>
            </a:r>
          </a:p>
        </p:txBody>
      </p:sp>
      <p:sp>
        <p:nvSpPr>
          <p:cNvPr id="23" name="">
            <a:extLst xmlns:a="http://schemas.openxmlformats.org/drawingml/2006/main">
              <a:ext uri="{FF2B5EF4-FFF2-40B4-BE49-F238E27FC236}">
                <a16:creationId xmlns:a16="http://schemas.microsoft.com/office/drawing/2014/main" id="{CC2C0F95-B420-4E5D-958B-C2CE970AE010}"/>
              </a:ext>
            </a:extLst>
          </p:cNvPr>
          <p:cNvSpPr>
            <a:spLocks xmlns:a="http://schemas.openxmlformats.org/drawingml/2006/main" noGrp="1"/>
          </p:cNvSpPr>
          <p:nvPr/>
        </p:nvSpPr>
        <p:spPr>
          <a:xfrm xmlns:a="http://schemas.openxmlformats.org/drawingml/2006/main">
            <a:off x="62103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Cited, grounded response</a:t>
            </a:r>
          </a:p>
        </p:txBody>
      </p:sp>
      <p:sp>
        <p:nvSpPr>
          <p:cNvPr id="24" name="">
            <a:extLst xmlns:a="http://schemas.openxmlformats.org/drawingml/2006/main">
              <a:ext uri="{FF2B5EF4-FFF2-40B4-BE49-F238E27FC236}">
                <a16:creationId xmlns:a16="http://schemas.microsoft.com/office/drawing/2014/main" id="{58CAF855-AE30-4164-BEE4-ECDAD59A5CF0}"/>
              </a:ext>
            </a:extLst>
          </p:cNvPr>
          <p:cNvSpPr>
            <a:spLocks xmlns:a="http://schemas.openxmlformats.org/drawingml/2006/main" noGrp="1"/>
          </p:cNvSpPr>
          <p:nvPr/>
        </p:nvSpPr>
        <p:spPr>
          <a:xfrm xmlns:a="http://schemas.openxmlformats.org/drawingml/2006/main">
            <a:off x="7562850" y="30099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25" name="">
            <a:extLst xmlns:a="http://schemas.openxmlformats.org/drawingml/2006/main">
              <a:ext uri="{FF2B5EF4-FFF2-40B4-BE49-F238E27FC236}">
                <a16:creationId xmlns:a16="http://schemas.microsoft.com/office/drawing/2014/main" id="{31C548CF-6A63-40F5-B452-94C509EC223E}"/>
              </a:ext>
            </a:extLst>
          </p:cNvPr>
          <p:cNvSpPr>
            <a:spLocks xmlns:a="http://schemas.openxmlformats.org/drawingml/2006/main" noGrp="1"/>
          </p:cNvSpPr>
          <p:nvPr/>
        </p:nvSpPr>
        <p:spPr>
          <a:xfrm xmlns:a="http://schemas.openxmlformats.org/drawingml/2006/main">
            <a:off x="7867650" y="2333625"/>
            <a:ext cx="1524000" cy="1752600"/>
          </a:xfrm>
          <a:prstGeom xmlns:a="http://schemas.openxmlformats.org/drawingml/2006/main" prst="roundRect">
            <a:avLst>
              <a:gd name="adj" fmla="val 7500"/>
            </a:avLst>
          </a:prstGeom>
          <a:solidFill xmlns:a="http://schemas.openxmlformats.org/drawingml/2006/main">
            <a:srgbClr val="EAF5F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D15891D-9CE0-46CD-AD07-BC2C4B4BBB74}"/>
              </a:ext>
            </a:extLst>
          </p:cNvPr>
          <p:cNvSpPr>
            <a:spLocks xmlns:a="http://schemas.openxmlformats.org/drawingml/2006/main" noGrp="1"/>
          </p:cNvSpPr>
          <p:nvPr/>
        </p:nvSpPr>
        <p:spPr>
          <a:xfrm xmlns:a="http://schemas.openxmlformats.org/drawingml/2006/main">
            <a:off x="80391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5</a:t>
            </a:r>
          </a:p>
        </p:txBody>
      </p:sp>
      <p:sp>
        <p:nvSpPr>
          <p:cNvPr id="27" name="">
            <a:extLst xmlns:a="http://schemas.openxmlformats.org/drawingml/2006/main">
              <a:ext uri="{FF2B5EF4-FFF2-40B4-BE49-F238E27FC236}">
                <a16:creationId xmlns:a16="http://schemas.microsoft.com/office/drawing/2014/main" id="{C28B4636-F6EF-4B59-B0AB-B54B3859D48B}"/>
              </a:ext>
            </a:extLst>
          </p:cNvPr>
          <p:cNvSpPr>
            <a:spLocks xmlns:a="http://schemas.openxmlformats.org/drawingml/2006/main" noGrp="1"/>
          </p:cNvSpPr>
          <p:nvPr/>
        </p:nvSpPr>
        <p:spPr>
          <a:xfrm xmlns:a="http://schemas.openxmlformats.org/drawingml/2006/main">
            <a:off x="80391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Check</a:t>
            </a:r>
          </a:p>
        </p:txBody>
      </p:sp>
      <p:sp>
        <p:nvSpPr>
          <p:cNvPr id="28" name="">
            <a:extLst xmlns:a="http://schemas.openxmlformats.org/drawingml/2006/main">
              <a:ext uri="{FF2B5EF4-FFF2-40B4-BE49-F238E27FC236}">
                <a16:creationId xmlns:a16="http://schemas.microsoft.com/office/drawing/2014/main" id="{143F958B-39EC-4B86-8B18-0385E367EAED}"/>
              </a:ext>
            </a:extLst>
          </p:cNvPr>
          <p:cNvSpPr>
            <a:spLocks xmlns:a="http://schemas.openxmlformats.org/drawingml/2006/main" noGrp="1"/>
          </p:cNvSpPr>
          <p:nvPr/>
        </p:nvSpPr>
        <p:spPr>
          <a:xfrm xmlns:a="http://schemas.openxmlformats.org/drawingml/2006/main">
            <a:off x="80391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Safety flags + eval signals</a:t>
            </a:r>
          </a:p>
        </p:txBody>
      </p:sp>
      <p:sp>
        <p:nvSpPr>
          <p:cNvPr id="29" name="">
            <a:extLst xmlns:a="http://schemas.openxmlformats.org/drawingml/2006/main">
              <a:ext uri="{FF2B5EF4-FFF2-40B4-BE49-F238E27FC236}">
                <a16:creationId xmlns:a16="http://schemas.microsoft.com/office/drawing/2014/main" id="{0681A736-C0A4-4490-8CB5-8EF6BB19270F}"/>
              </a:ext>
            </a:extLst>
          </p:cNvPr>
          <p:cNvSpPr>
            <a:spLocks xmlns:a="http://schemas.openxmlformats.org/drawingml/2006/main" noGrp="1"/>
          </p:cNvSpPr>
          <p:nvPr/>
        </p:nvSpPr>
        <p:spPr>
          <a:xfrm xmlns:a="http://schemas.openxmlformats.org/drawingml/2006/main">
            <a:off x="9391650" y="30099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30" name="">
            <a:extLst xmlns:a="http://schemas.openxmlformats.org/drawingml/2006/main">
              <a:ext uri="{FF2B5EF4-FFF2-40B4-BE49-F238E27FC236}">
                <a16:creationId xmlns:a16="http://schemas.microsoft.com/office/drawing/2014/main" id="{1000FB1F-9C50-4D36-8BCD-58DCECD63A5C}"/>
              </a:ext>
            </a:extLst>
          </p:cNvPr>
          <p:cNvSpPr>
            <a:spLocks xmlns:a="http://schemas.openxmlformats.org/drawingml/2006/main" noGrp="1"/>
          </p:cNvSpPr>
          <p:nvPr/>
        </p:nvSpPr>
        <p:spPr>
          <a:xfrm xmlns:a="http://schemas.openxmlformats.org/drawingml/2006/main">
            <a:off x="9696450" y="2333625"/>
            <a:ext cx="1524000" cy="1752600"/>
          </a:xfrm>
          <a:prstGeom xmlns:a="http://schemas.openxmlformats.org/drawingml/2006/main" prst="roundRect">
            <a:avLst>
              <a:gd name="adj" fmla="val 7500"/>
            </a:avLst>
          </a:prstGeom>
          <a:solidFill xmlns:a="http://schemas.openxmlformats.org/drawingml/2006/main">
            <a:srgbClr val="EAF5F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90DD27A-A870-49A7-AB6E-D7B437607ECE}"/>
              </a:ext>
            </a:extLst>
          </p:cNvPr>
          <p:cNvSpPr>
            <a:spLocks xmlns:a="http://schemas.openxmlformats.org/drawingml/2006/main" noGrp="1"/>
          </p:cNvSpPr>
          <p:nvPr/>
        </p:nvSpPr>
        <p:spPr>
          <a:xfrm xmlns:a="http://schemas.openxmlformats.org/drawingml/2006/main">
            <a:off x="9867900" y="2514600"/>
            <a:ext cx="304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77EAF"/>
                </a:solidFill>
              </a:defRPr>
            </a:pPr>
            <a:r>
              <a:rPr sz="1275" b="1">
                <a:solidFill>
                  <a:srgbClr val="177EAF"/>
                </a:solidFill>
              </a:rPr>
              <a:t>6</a:t>
            </a:r>
          </a:p>
        </p:txBody>
      </p:sp>
      <p:sp>
        <p:nvSpPr>
          <p:cNvPr id="32" name="">
            <a:extLst xmlns:a="http://schemas.openxmlformats.org/drawingml/2006/main">
              <a:ext uri="{FF2B5EF4-FFF2-40B4-BE49-F238E27FC236}">
                <a16:creationId xmlns:a16="http://schemas.microsoft.com/office/drawing/2014/main" id="{ED0C7A69-4398-4438-A2DA-5D9BE76E0F95}"/>
              </a:ext>
            </a:extLst>
          </p:cNvPr>
          <p:cNvSpPr>
            <a:spLocks xmlns:a="http://schemas.openxmlformats.org/drawingml/2006/main" noGrp="1"/>
          </p:cNvSpPr>
          <p:nvPr/>
        </p:nvSpPr>
        <p:spPr>
          <a:xfrm xmlns:a="http://schemas.openxmlformats.org/drawingml/2006/main">
            <a:off x="9867900" y="29146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B1F33"/>
                </a:solidFill>
              </a:defRPr>
            </a:pPr>
            <a:r>
              <a:rPr sz="1575" b="1">
                <a:solidFill>
                  <a:srgbClr val="0B1F33"/>
                </a:solidFill>
              </a:rPr>
              <a:t>Audit</a:t>
            </a:r>
          </a:p>
        </p:txBody>
      </p:sp>
      <p:sp>
        <p:nvSpPr>
          <p:cNvPr id="33" name="">
            <a:extLst xmlns:a="http://schemas.openxmlformats.org/drawingml/2006/main">
              <a:ext uri="{FF2B5EF4-FFF2-40B4-BE49-F238E27FC236}">
                <a16:creationId xmlns:a16="http://schemas.microsoft.com/office/drawing/2014/main" id="{DAC76419-4538-4069-BDD8-128377C40B73}"/>
              </a:ext>
            </a:extLst>
          </p:cNvPr>
          <p:cNvSpPr>
            <a:spLocks xmlns:a="http://schemas.openxmlformats.org/drawingml/2006/main" noGrp="1"/>
          </p:cNvSpPr>
          <p:nvPr/>
        </p:nvSpPr>
        <p:spPr>
          <a:xfrm xmlns:a="http://schemas.openxmlformats.org/drawingml/2006/main">
            <a:off x="9867900" y="3295650"/>
            <a:ext cx="1181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Trace prompt, answer, citations</a:t>
            </a:r>
          </a:p>
        </p:txBody>
      </p:sp>
      <p:sp>
        <p:nvSpPr>
          <p:cNvPr id="34" name="">
            <a:extLst xmlns:a="http://schemas.openxmlformats.org/drawingml/2006/main">
              <a:ext uri="{FF2B5EF4-FFF2-40B4-BE49-F238E27FC236}">
                <a16:creationId xmlns:a16="http://schemas.microsoft.com/office/drawing/2014/main" id="{4BCA7AEA-805D-4390-95E4-9577A5AB3174}"/>
              </a:ext>
            </a:extLst>
          </p:cNvPr>
          <p:cNvSpPr>
            <a:spLocks xmlns:a="http://schemas.openxmlformats.org/drawingml/2006/main" noGrp="1"/>
          </p:cNvSpPr>
          <p:nvPr/>
        </p:nvSpPr>
        <p:spPr>
          <a:xfrm xmlns:a="http://schemas.openxmlformats.org/drawingml/2006/main">
            <a:off x="552450" y="5048250"/>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177EAF"/>
                </a:solidFill>
              </a:defRPr>
            </a:pPr>
            <a:r>
              <a:rPr sz="1575" b="1">
                <a:solidFill>
                  <a:srgbClr val="177EAF"/>
                </a:solidFill>
              </a:rPr>
              <a:t>Azure AI Search is the cloud retrieval path; a local JSON vector index keeps the interview demo self-contained.</a:t>
            </a:r>
          </a:p>
        </p:txBody>
      </p:sp>
    </p:spTree>
    <p:extLst>
      <p:ext uri="{BB962C8B-B14F-4D97-AF65-F5344CB8AC3E}">
        <p14:creationId xmlns:p14="http://schemas.microsoft.com/office/powerpoint/2010/main" val="1420688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0103DB-A73A-4FAF-88B2-267CA6BA7E4E}"/>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07  /  LOOP ENGINEERING</a:t>
            </a:r>
          </a:p>
        </p:txBody>
      </p:sp>
      <p:sp>
        <p:nvSpPr>
          <p:cNvPr id="2" name="">
            <a:extLst xmlns:a="http://schemas.openxmlformats.org/drawingml/2006/main">
              <a:ext uri="{FF2B5EF4-FFF2-40B4-BE49-F238E27FC236}">
                <a16:creationId xmlns:a16="http://schemas.microsoft.com/office/drawing/2014/main" id="{018455F8-15C7-4725-B17A-EFDBF513022A}"/>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The platform is organized around bounded operational loops</a:t>
            </a:r>
          </a:p>
        </p:txBody>
      </p:sp>
      <p:sp>
        <p:nvSpPr>
          <p:cNvPr id="3" name="">
            <a:extLst xmlns:a="http://schemas.openxmlformats.org/drawingml/2006/main">
              <a:ext uri="{FF2B5EF4-FFF2-40B4-BE49-F238E27FC236}">
                <a16:creationId xmlns:a16="http://schemas.microsoft.com/office/drawing/2014/main" id="{58CEE4A9-9075-495B-AE5C-E958018106BD}"/>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0556908-B932-4473-BD5A-7236C638F8DE}"/>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08</a:t>
            </a:r>
          </a:p>
        </p:txBody>
      </p:sp>
      <p:sp>
        <p:nvSpPr>
          <p:cNvPr id="5" name="">
            <a:extLst xmlns:a="http://schemas.openxmlformats.org/drawingml/2006/main">
              <a:ext uri="{FF2B5EF4-FFF2-40B4-BE49-F238E27FC236}">
                <a16:creationId xmlns:a16="http://schemas.microsoft.com/office/drawing/2014/main" id="{E00D47FA-7F46-4E20-ACF8-E948298DFBB5}"/>
              </a:ext>
            </a:extLst>
          </p:cNvPr>
          <p:cNvSpPr>
            <a:spLocks xmlns:a="http://schemas.openxmlformats.org/drawingml/2006/main" noGrp="1"/>
          </p:cNvSpPr>
          <p:nvPr/>
        </p:nvSpPr>
        <p:spPr>
          <a:xfrm xmlns:a="http://schemas.openxmlformats.org/drawingml/2006/main">
            <a:off x="552450" y="1809750"/>
            <a:ext cx="2571750" cy="2952750"/>
          </a:xfrm>
          <a:prstGeom xmlns:a="http://schemas.openxmlformats.org/drawingml/2006/main" prst="roundRect">
            <a:avLst>
              <a:gd name="adj" fmla="val 4444"/>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6D3A98-9A75-4C9E-AF9B-756221F024E8}"/>
              </a:ext>
            </a:extLst>
          </p:cNvPr>
          <p:cNvSpPr>
            <a:spLocks xmlns:a="http://schemas.openxmlformats.org/drawingml/2006/main" noGrp="1"/>
          </p:cNvSpPr>
          <p:nvPr/>
        </p:nvSpPr>
        <p:spPr>
          <a:xfrm xmlns:a="http://schemas.openxmlformats.org/drawingml/2006/main">
            <a:off x="762000" y="2019300"/>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Retrieval loop</a:t>
            </a:r>
          </a:p>
        </p:txBody>
      </p:sp>
      <p:sp>
        <p:nvSpPr>
          <p:cNvPr id="7" name="">
            <a:extLst xmlns:a="http://schemas.openxmlformats.org/drawingml/2006/main">
              <a:ext uri="{FF2B5EF4-FFF2-40B4-BE49-F238E27FC236}">
                <a16:creationId xmlns:a16="http://schemas.microsoft.com/office/drawing/2014/main" id="{B7C095CA-1542-45BE-85CA-EBD8720E7576}"/>
              </a:ext>
            </a:extLst>
          </p:cNvPr>
          <p:cNvSpPr>
            <a:spLocks xmlns:a="http://schemas.openxmlformats.org/drawingml/2006/main" noGrp="1"/>
          </p:cNvSpPr>
          <p:nvPr/>
        </p:nvSpPr>
        <p:spPr>
          <a:xfrm xmlns:a="http://schemas.openxmlformats.org/drawingml/2006/main">
            <a:off x="762000" y="2571750"/>
            <a:ext cx="2152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Retrieve context</a:t>
            </a:r>
          </a:p>
          <a:p xmlns:a="http://schemas.openxmlformats.org/drawingml/2006/main">
            <a:pPr algn="l">
              <a:defRPr sz="1275" b="0">
                <a:solidFill>
                  <a:srgbClr val="4E6274"/>
                </a:solidFill>
              </a:defRPr>
            </a:pPr>
            <a:r>
              <a:rPr sz="1275" b="0">
                <a:solidFill>
                  <a:srgbClr val="4E6274"/>
                </a:solidFill>
              </a:rPr>
              <a:t>Answer with citations</a:t>
            </a:r>
          </a:p>
          <a:p xmlns:a="http://schemas.openxmlformats.org/drawingml/2006/main">
            <a:pPr algn="l">
              <a:defRPr sz="1275" b="0">
                <a:solidFill>
                  <a:srgbClr val="4E6274"/>
                </a:solidFill>
              </a:defRPr>
            </a:pPr>
            <a:r>
              <a:rPr sz="1275" b="0">
                <a:solidFill>
                  <a:srgbClr val="4E6274"/>
                </a:solidFill>
              </a:rPr>
              <a:t>Verify groundedness</a:t>
            </a:r>
          </a:p>
          <a:p xmlns:a="http://schemas.openxmlformats.org/drawingml/2006/main">
            <a:pPr algn="l">
              <a:defRPr sz="1275" b="0">
                <a:solidFill>
                  <a:srgbClr val="4E6274"/>
                </a:solidFill>
              </a:defRPr>
            </a:pPr>
            <a:r>
              <a:rPr sz="1275" b="0">
                <a:solidFill>
                  <a:srgbClr val="4E6274"/>
                </a:solidFill>
              </a:rPr>
              <a:t>Retry once if needed</a:t>
            </a:r>
          </a:p>
        </p:txBody>
      </p:sp>
      <p:sp>
        <p:nvSpPr>
          <p:cNvPr id="8" name="">
            <a:extLst xmlns:a="http://schemas.openxmlformats.org/drawingml/2006/main">
              <a:ext uri="{FF2B5EF4-FFF2-40B4-BE49-F238E27FC236}">
                <a16:creationId xmlns:a16="http://schemas.microsoft.com/office/drawing/2014/main" id="{7501C1CC-35BE-4F53-B3B6-2E2B99FA162D}"/>
              </a:ext>
            </a:extLst>
          </p:cNvPr>
          <p:cNvSpPr>
            <a:spLocks xmlns:a="http://schemas.openxmlformats.org/drawingml/2006/main" noGrp="1"/>
          </p:cNvSpPr>
          <p:nvPr/>
        </p:nvSpPr>
        <p:spPr>
          <a:xfrm xmlns:a="http://schemas.openxmlformats.org/drawingml/2006/main">
            <a:off x="3390900" y="1809750"/>
            <a:ext cx="2571750" cy="2952750"/>
          </a:xfrm>
          <a:prstGeom xmlns:a="http://schemas.openxmlformats.org/drawingml/2006/main" prst="roundRect">
            <a:avLst>
              <a:gd name="adj" fmla="val 4444"/>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DEE3AC-2B81-4FA7-B5E9-5B93BCB60C01}"/>
              </a:ext>
            </a:extLst>
          </p:cNvPr>
          <p:cNvSpPr>
            <a:spLocks xmlns:a="http://schemas.openxmlformats.org/drawingml/2006/main" noGrp="1"/>
          </p:cNvSpPr>
          <p:nvPr/>
        </p:nvSpPr>
        <p:spPr>
          <a:xfrm xmlns:a="http://schemas.openxmlformats.org/drawingml/2006/main">
            <a:off x="3600450" y="2019300"/>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Workflow loop</a:t>
            </a:r>
          </a:p>
        </p:txBody>
      </p:sp>
      <p:sp>
        <p:nvSpPr>
          <p:cNvPr id="10" name="">
            <a:extLst xmlns:a="http://schemas.openxmlformats.org/drawingml/2006/main">
              <a:ext uri="{FF2B5EF4-FFF2-40B4-BE49-F238E27FC236}">
                <a16:creationId xmlns:a16="http://schemas.microsoft.com/office/drawing/2014/main" id="{3A407BE3-52D2-497D-9F06-04FF880AE478}"/>
              </a:ext>
            </a:extLst>
          </p:cNvPr>
          <p:cNvSpPr>
            <a:spLocks xmlns:a="http://schemas.openxmlformats.org/drawingml/2006/main" noGrp="1"/>
          </p:cNvSpPr>
          <p:nvPr/>
        </p:nvSpPr>
        <p:spPr>
          <a:xfrm xmlns:a="http://schemas.openxmlformats.org/drawingml/2006/main">
            <a:off x="3600450" y="2571750"/>
            <a:ext cx="2152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Plan one allowlisted tool</a:t>
            </a:r>
          </a:p>
          <a:p xmlns:a="http://schemas.openxmlformats.org/drawingml/2006/main">
            <a:pPr algn="l">
              <a:defRPr sz="1275" b="0">
                <a:solidFill>
                  <a:srgbClr val="4E6274"/>
                </a:solidFill>
              </a:defRPr>
            </a:pPr>
            <a:r>
              <a:rPr sz="1275" b="0">
                <a:solidFill>
                  <a:srgbClr val="4E6274"/>
                </a:solidFill>
              </a:rPr>
              <a:t>Execute it</a:t>
            </a:r>
          </a:p>
          <a:p xmlns:a="http://schemas.openxmlformats.org/drawingml/2006/main">
            <a:pPr algn="l">
              <a:defRPr sz="1275" b="0">
                <a:solidFill>
                  <a:srgbClr val="4E6274"/>
                </a:solidFill>
              </a:defRPr>
            </a:pPr>
            <a:r>
              <a:rPr sz="1275" b="0">
                <a:solidFill>
                  <a:srgbClr val="4E6274"/>
                </a:solidFill>
              </a:rPr>
              <a:t>Verify evidence</a:t>
            </a:r>
          </a:p>
          <a:p xmlns:a="http://schemas.openxmlformats.org/drawingml/2006/main">
            <a:pPr algn="l">
              <a:defRPr sz="1275" b="0">
                <a:solidFill>
                  <a:srgbClr val="4E6274"/>
                </a:solidFill>
              </a:defRPr>
            </a:pPr>
            <a:r>
              <a:rPr sz="1275" b="0">
                <a:solidFill>
                  <a:srgbClr val="4E6274"/>
                </a:solidFill>
              </a:rPr>
              <a:t>Retry policy retrieval once</a:t>
            </a:r>
          </a:p>
          <a:p xmlns:a="http://schemas.openxmlformats.org/drawingml/2006/main">
            <a:pPr algn="l">
              <a:defRPr sz="1275" b="0">
                <a:solidFill>
                  <a:srgbClr val="4E6274"/>
                </a:solidFill>
              </a:defRPr>
            </a:pPr>
            <a:r>
              <a:rPr sz="1275" b="0">
                <a:solidFill>
                  <a:srgbClr val="4E6274"/>
                </a:solidFill>
              </a:rPr>
              <a:t>Hand off failures</a:t>
            </a:r>
          </a:p>
        </p:txBody>
      </p:sp>
      <p:sp>
        <p:nvSpPr>
          <p:cNvPr id="11" name="">
            <a:extLst xmlns:a="http://schemas.openxmlformats.org/drawingml/2006/main">
              <a:ext uri="{FF2B5EF4-FFF2-40B4-BE49-F238E27FC236}">
                <a16:creationId xmlns:a16="http://schemas.microsoft.com/office/drawing/2014/main" id="{FDD5D082-CF76-4AEF-AC19-A37A871A804C}"/>
              </a:ext>
            </a:extLst>
          </p:cNvPr>
          <p:cNvSpPr>
            <a:spLocks xmlns:a="http://schemas.openxmlformats.org/drawingml/2006/main" noGrp="1"/>
          </p:cNvSpPr>
          <p:nvPr/>
        </p:nvSpPr>
        <p:spPr>
          <a:xfrm xmlns:a="http://schemas.openxmlformats.org/drawingml/2006/main">
            <a:off x="6229350" y="1809750"/>
            <a:ext cx="2571750" cy="2952750"/>
          </a:xfrm>
          <a:prstGeom xmlns:a="http://schemas.openxmlformats.org/drawingml/2006/main" prst="roundRect">
            <a:avLst>
              <a:gd name="adj" fmla="val 4444"/>
            </a:avLst>
          </a:prstGeom>
          <a:solidFill xmlns:a="http://schemas.openxmlformats.org/drawingml/2006/main">
            <a:srgbClr val="F5F8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A0D40F4-F676-42C7-9A0A-6B93400F328C}"/>
              </a:ext>
            </a:extLst>
          </p:cNvPr>
          <p:cNvSpPr>
            <a:spLocks xmlns:a="http://schemas.openxmlformats.org/drawingml/2006/main" noGrp="1"/>
          </p:cNvSpPr>
          <p:nvPr/>
        </p:nvSpPr>
        <p:spPr>
          <a:xfrm xmlns:a="http://schemas.openxmlformats.org/drawingml/2006/main">
            <a:off x="6438900" y="2019300"/>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Decision loop</a:t>
            </a:r>
          </a:p>
        </p:txBody>
      </p:sp>
      <p:sp>
        <p:nvSpPr>
          <p:cNvPr id="13" name="">
            <a:extLst xmlns:a="http://schemas.openxmlformats.org/drawingml/2006/main">
              <a:ext uri="{FF2B5EF4-FFF2-40B4-BE49-F238E27FC236}">
                <a16:creationId xmlns:a16="http://schemas.microsoft.com/office/drawing/2014/main" id="{508F9EA9-6706-48B8-9C39-801DC994B935}"/>
              </a:ext>
            </a:extLst>
          </p:cNvPr>
          <p:cNvSpPr>
            <a:spLocks xmlns:a="http://schemas.openxmlformats.org/drawingml/2006/main" noGrp="1"/>
          </p:cNvSpPr>
          <p:nvPr/>
        </p:nvSpPr>
        <p:spPr>
          <a:xfrm xmlns:a="http://schemas.openxmlformats.org/drawingml/2006/main">
            <a:off x="6438900" y="2571750"/>
            <a:ext cx="2152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Request approval</a:t>
            </a:r>
          </a:p>
          <a:p xmlns:a="http://schemas.openxmlformats.org/drawingml/2006/main">
            <a:pPr algn="l">
              <a:defRPr sz="1275" b="0">
                <a:solidFill>
                  <a:srgbClr val="4E6274"/>
                </a:solidFill>
              </a:defRPr>
            </a:pPr>
            <a:r>
              <a:rPr sz="1275" b="0">
                <a:solidFill>
                  <a:srgbClr val="4E6274"/>
                </a:solidFill>
              </a:rPr>
              <a:t>Gate promotion</a:t>
            </a:r>
          </a:p>
          <a:p xmlns:a="http://schemas.openxmlformats.org/drawingml/2006/main">
            <a:pPr algn="l">
              <a:defRPr sz="1275" b="0">
                <a:solidFill>
                  <a:srgbClr val="4E6274"/>
                </a:solidFill>
              </a:defRPr>
            </a:pPr>
            <a:r>
              <a:rPr sz="1275" b="0">
                <a:solidFill>
                  <a:srgbClr val="4E6274"/>
                </a:solidFill>
              </a:rPr>
              <a:t>Deploy safely</a:t>
            </a:r>
          </a:p>
          <a:p xmlns:a="http://schemas.openxmlformats.org/drawingml/2006/main">
            <a:pPr algn="l">
              <a:defRPr sz="1275" b="0">
                <a:solidFill>
                  <a:srgbClr val="4E6274"/>
                </a:solidFill>
              </a:defRPr>
            </a:pPr>
            <a:r>
              <a:rPr sz="1275" b="0">
                <a:solidFill>
                  <a:srgbClr val="4E6274"/>
                </a:solidFill>
              </a:rPr>
              <a:t>Monitor results</a:t>
            </a:r>
          </a:p>
          <a:p xmlns:a="http://schemas.openxmlformats.org/drawingml/2006/main">
            <a:pPr algn="l">
              <a:defRPr sz="1275" b="0">
                <a:solidFill>
                  <a:srgbClr val="4E6274"/>
                </a:solidFill>
              </a:defRPr>
            </a:pPr>
            <a:r>
              <a:rPr sz="1275" b="0">
                <a:solidFill>
                  <a:srgbClr val="4E6274"/>
                </a:solidFill>
              </a:rPr>
              <a:t>Rollback or retrain</a:t>
            </a:r>
          </a:p>
        </p:txBody>
      </p:sp>
      <p:sp>
        <p:nvSpPr>
          <p:cNvPr id="14" name="">
            <a:extLst xmlns:a="http://schemas.openxmlformats.org/drawingml/2006/main">
              <a:ext uri="{FF2B5EF4-FFF2-40B4-BE49-F238E27FC236}">
                <a16:creationId xmlns:a16="http://schemas.microsoft.com/office/drawing/2014/main" id="{5FA0807C-CFF3-4D08-9D7D-80824D68D54E}"/>
              </a:ext>
            </a:extLst>
          </p:cNvPr>
          <p:cNvSpPr>
            <a:spLocks xmlns:a="http://schemas.openxmlformats.org/drawingml/2006/main" noGrp="1"/>
          </p:cNvSpPr>
          <p:nvPr/>
        </p:nvSpPr>
        <p:spPr>
          <a:xfrm xmlns:a="http://schemas.openxmlformats.org/drawingml/2006/main">
            <a:off x="9067800" y="1809750"/>
            <a:ext cx="2571750" cy="2952750"/>
          </a:xfrm>
          <a:prstGeom xmlns:a="http://schemas.openxmlformats.org/drawingml/2006/main" prst="roundRect">
            <a:avLst>
              <a:gd name="adj" fmla="val 4444"/>
            </a:avLst>
          </a:prstGeom>
          <a:solidFill xmlns:a="http://schemas.openxmlformats.org/drawingml/2006/main">
            <a:srgbClr val="EA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0912027-AC01-4482-823B-8024E9C84796}"/>
              </a:ext>
            </a:extLst>
          </p:cNvPr>
          <p:cNvSpPr>
            <a:spLocks xmlns:a="http://schemas.openxmlformats.org/drawingml/2006/main" noGrp="1"/>
          </p:cNvSpPr>
          <p:nvPr/>
        </p:nvSpPr>
        <p:spPr>
          <a:xfrm xmlns:a="http://schemas.openxmlformats.org/drawingml/2006/main">
            <a:off x="9277350" y="2019300"/>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Monitoring loop</a:t>
            </a:r>
          </a:p>
        </p:txBody>
      </p:sp>
      <p:sp>
        <p:nvSpPr>
          <p:cNvPr id="16" name="">
            <a:extLst xmlns:a="http://schemas.openxmlformats.org/drawingml/2006/main">
              <a:ext uri="{FF2B5EF4-FFF2-40B4-BE49-F238E27FC236}">
                <a16:creationId xmlns:a16="http://schemas.microsoft.com/office/drawing/2014/main" id="{D2FEBB50-E9C1-42F3-996D-7481743E6238}"/>
              </a:ext>
            </a:extLst>
          </p:cNvPr>
          <p:cNvSpPr>
            <a:spLocks xmlns:a="http://schemas.openxmlformats.org/drawingml/2006/main" noGrp="1"/>
          </p:cNvSpPr>
          <p:nvPr/>
        </p:nvSpPr>
        <p:spPr>
          <a:xfrm xmlns:a="http://schemas.openxmlformats.org/drawingml/2006/main">
            <a:off x="9277350" y="2571750"/>
            <a:ext cx="2152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Capture prediction events</a:t>
            </a:r>
          </a:p>
          <a:p xmlns:a="http://schemas.openxmlformats.org/drawingml/2006/main">
            <a:pPr algn="l">
              <a:defRPr sz="1275" b="0">
                <a:solidFill>
                  <a:srgbClr val="4E6274"/>
                </a:solidFill>
              </a:defRPr>
            </a:pPr>
            <a:r>
              <a:rPr sz="1275" b="0">
                <a:solidFill>
                  <a:srgbClr val="4E6274"/>
                </a:solidFill>
              </a:rPr>
              <a:t>Run drift checks</a:t>
            </a:r>
          </a:p>
          <a:p xmlns:a="http://schemas.openxmlformats.org/drawingml/2006/main">
            <a:pPr algn="l">
              <a:defRPr sz="1275" b="0">
                <a:solidFill>
                  <a:srgbClr val="4E6274"/>
                </a:solidFill>
              </a:defRPr>
            </a:pPr>
            <a:r>
              <a:rPr sz="1275" b="0">
                <a:solidFill>
                  <a:srgbClr val="4E6274"/>
                </a:solidFill>
              </a:rPr>
              <a:t>Record eval runs</a:t>
            </a:r>
          </a:p>
          <a:p xmlns:a="http://schemas.openxmlformats.org/drawingml/2006/main">
            <a:pPr algn="l">
              <a:defRPr sz="1275" b="0">
                <a:solidFill>
                  <a:srgbClr val="4E6274"/>
                </a:solidFill>
              </a:defRPr>
            </a:pPr>
            <a:r>
              <a:rPr sz="1275" b="0">
                <a:solidFill>
                  <a:srgbClr val="4E6274"/>
                </a:solidFill>
              </a:rPr>
              <a:t>Audit change history</a:t>
            </a:r>
          </a:p>
          <a:p xmlns:a="http://schemas.openxmlformats.org/drawingml/2006/main">
            <a:pPr algn="l">
              <a:defRPr sz="1275" b="0">
                <a:solidFill>
                  <a:srgbClr val="4E6274"/>
                </a:solidFill>
              </a:defRPr>
            </a:pPr>
            <a:r>
              <a:rPr sz="1275" b="0">
                <a:solidFill>
                  <a:srgbClr val="4E6274"/>
                </a:solidFill>
              </a:rPr>
              <a:t>Trigger review</a:t>
            </a:r>
          </a:p>
        </p:txBody>
      </p:sp>
      <p:sp>
        <p:nvSpPr>
          <p:cNvPr id="17" name="">
            <a:extLst xmlns:a="http://schemas.openxmlformats.org/drawingml/2006/main">
              <a:ext uri="{FF2B5EF4-FFF2-40B4-BE49-F238E27FC236}">
                <a16:creationId xmlns:a16="http://schemas.microsoft.com/office/drawing/2014/main" id="{7B3C8FC8-2F9C-46DC-A61D-230999199073}"/>
              </a:ext>
            </a:extLst>
          </p:cNvPr>
          <p:cNvSpPr>
            <a:spLocks xmlns:a="http://schemas.openxmlformats.org/drawingml/2006/main" noGrp="1"/>
          </p:cNvSpPr>
          <p:nvPr/>
        </p:nvSpPr>
        <p:spPr>
          <a:xfrm xmlns:a="http://schemas.openxmlformats.org/drawingml/2006/main">
            <a:off x="552450" y="53340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B1F33"/>
                </a:solidFill>
              </a:defRPr>
            </a:pPr>
            <a:r>
              <a:rPr sz="1725" b="1">
                <a:solidFill>
                  <a:srgbClr val="0B1F33"/>
                </a:solidFill>
              </a:rPr>
              <a:t>A reusable platform is a set of durable feedback loops—not a one-shot model invocation.</a:t>
            </a:r>
          </a:p>
        </p:txBody>
      </p:sp>
    </p:spTree>
    <p:extLst>
      <p:ext uri="{BB962C8B-B14F-4D97-AF65-F5344CB8AC3E}">
        <p14:creationId xmlns:p14="http://schemas.microsoft.com/office/powerpoint/2010/main" val="12366100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C079CB-1934-43E3-85EA-D3160B8AEA9D}"/>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08  /  MONITORING, DRIFT, AND OPERATIONS</a:t>
            </a:r>
          </a:p>
        </p:txBody>
      </p:sp>
      <p:sp>
        <p:nvSpPr>
          <p:cNvPr id="2" name="">
            <a:extLst xmlns:a="http://schemas.openxmlformats.org/drawingml/2006/main">
              <a:ext uri="{FF2B5EF4-FFF2-40B4-BE49-F238E27FC236}">
                <a16:creationId xmlns:a16="http://schemas.microsoft.com/office/drawing/2014/main" id="{5F42B6E3-EB74-46CD-A317-EB4F9F3A0259}"/>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Observability closes the gap between deployment and trust</a:t>
            </a:r>
          </a:p>
        </p:txBody>
      </p:sp>
      <p:sp>
        <p:nvSpPr>
          <p:cNvPr id="3" name="">
            <a:extLst xmlns:a="http://schemas.openxmlformats.org/drawingml/2006/main">
              <a:ext uri="{FF2B5EF4-FFF2-40B4-BE49-F238E27FC236}">
                <a16:creationId xmlns:a16="http://schemas.microsoft.com/office/drawing/2014/main" id="{517BB3BC-2815-40AB-B0DA-265DA21368EF}"/>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75F095-7A6D-4BC6-A5B4-5AEDF57D93E7}"/>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09</a:t>
            </a:r>
          </a:p>
        </p:txBody>
      </p:sp>
      <p:sp>
        <p:nvSpPr>
          <p:cNvPr id="5" name="">
            <a:extLst xmlns:a="http://schemas.openxmlformats.org/drawingml/2006/main">
              <a:ext uri="{FF2B5EF4-FFF2-40B4-BE49-F238E27FC236}">
                <a16:creationId xmlns:a16="http://schemas.microsoft.com/office/drawing/2014/main" id="{1AD5A02A-BF6B-4E0D-AEF3-4E3DE7C79581}"/>
              </a:ext>
            </a:extLst>
          </p:cNvPr>
          <p:cNvSpPr>
            <a:spLocks xmlns:a="http://schemas.openxmlformats.org/drawingml/2006/main" noGrp="1"/>
          </p:cNvSpPr>
          <p:nvPr/>
        </p:nvSpPr>
        <p:spPr>
          <a:xfrm xmlns:a="http://schemas.openxmlformats.org/drawingml/2006/main">
            <a:off x="552450" y="1752600"/>
            <a:ext cx="3333750" cy="3028950"/>
          </a:xfrm>
          <a:prstGeom xmlns:a="http://schemas.openxmlformats.org/drawingml/2006/main" prst="roundRect">
            <a:avLst>
              <a:gd name="adj" fmla="val 3774"/>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F911AA-F54C-419B-9AE2-C5C885FDD50E}"/>
              </a:ext>
            </a:extLst>
          </p:cNvPr>
          <p:cNvSpPr>
            <a:spLocks xmlns:a="http://schemas.openxmlformats.org/drawingml/2006/main" noGrp="1"/>
          </p:cNvSpPr>
          <p:nvPr/>
        </p:nvSpPr>
        <p:spPr>
          <a:xfrm xmlns:a="http://schemas.openxmlformats.org/drawingml/2006/main">
            <a:off x="762000" y="196215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Prediction signals</a:t>
            </a:r>
          </a:p>
        </p:txBody>
      </p:sp>
      <p:sp>
        <p:nvSpPr>
          <p:cNvPr id="7" name="">
            <a:extLst xmlns:a="http://schemas.openxmlformats.org/drawingml/2006/main">
              <a:ext uri="{FF2B5EF4-FFF2-40B4-BE49-F238E27FC236}">
                <a16:creationId xmlns:a16="http://schemas.microsoft.com/office/drawing/2014/main" id="{3C62B594-3D1D-4253-BAAB-DEC5134CA8F0}"/>
              </a:ext>
            </a:extLst>
          </p:cNvPr>
          <p:cNvSpPr>
            <a:spLocks xmlns:a="http://schemas.openxmlformats.org/drawingml/2006/main" noGrp="1"/>
          </p:cNvSpPr>
          <p:nvPr/>
        </p:nvSpPr>
        <p:spPr>
          <a:xfrm xmlns:a="http://schemas.openxmlformats.org/drawingml/2006/main">
            <a:off x="762000" y="2514600"/>
            <a:ext cx="29146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Prediction count</a:t>
            </a:r>
          </a:p>
          <a:p xmlns:a="http://schemas.openxmlformats.org/drawingml/2006/main">
            <a:pPr algn="l">
              <a:defRPr sz="1275" b="0">
                <a:solidFill>
                  <a:srgbClr val="4E6274"/>
                </a:solidFill>
              </a:defRPr>
            </a:pPr>
            <a:r>
              <a:rPr sz="1275" b="0">
                <a:solidFill>
                  <a:srgbClr val="4E6274"/>
                </a:solidFill>
              </a:rPr>
              <a:t>Latency and error rate</a:t>
            </a:r>
          </a:p>
          <a:p xmlns:a="http://schemas.openxmlformats.org/drawingml/2006/main">
            <a:pPr algn="l">
              <a:defRPr sz="1275" b="0">
                <a:solidFill>
                  <a:srgbClr val="4E6274"/>
                </a:solidFill>
              </a:defRPr>
            </a:pPr>
            <a:r>
              <a:rPr sz="1275" b="0">
                <a:solidFill>
                  <a:srgbClr val="4E6274"/>
                </a:solidFill>
              </a:rPr>
              <a:t>Risk-band mix</a:t>
            </a:r>
          </a:p>
          <a:p xmlns:a="http://schemas.openxmlformats.org/drawingml/2006/main">
            <a:pPr algn="l">
              <a:defRPr sz="1275" b="0">
                <a:solidFill>
                  <a:srgbClr val="4E6274"/>
                </a:solidFill>
              </a:defRPr>
            </a:pPr>
            <a:r>
              <a:rPr sz="1275" b="0">
                <a:solidFill>
                  <a:srgbClr val="4E6274"/>
                </a:solidFill>
              </a:rPr>
              <a:t>Feature missingness</a:t>
            </a:r>
          </a:p>
          <a:p xmlns:a="http://schemas.openxmlformats.org/drawingml/2006/main">
            <a:pPr algn="l">
              <a:defRPr sz="1275" b="0">
                <a:solidFill>
                  <a:srgbClr val="4E6274"/>
                </a:solidFill>
              </a:defRPr>
            </a:pPr>
            <a:r>
              <a:rPr sz="1275" b="0">
                <a:solidFill>
                  <a:srgbClr val="4E6274"/>
                </a:solidFill>
              </a:rPr>
              <a:t>Drift against baseline</a:t>
            </a:r>
          </a:p>
        </p:txBody>
      </p:sp>
      <p:sp>
        <p:nvSpPr>
          <p:cNvPr id="8" name="">
            <a:extLst xmlns:a="http://schemas.openxmlformats.org/drawingml/2006/main">
              <a:ext uri="{FF2B5EF4-FFF2-40B4-BE49-F238E27FC236}">
                <a16:creationId xmlns:a16="http://schemas.microsoft.com/office/drawing/2014/main" id="{16AACC51-02B5-462B-8029-6C1989526E5D}"/>
              </a:ext>
            </a:extLst>
          </p:cNvPr>
          <p:cNvSpPr>
            <a:spLocks xmlns:a="http://schemas.openxmlformats.org/drawingml/2006/main" noGrp="1"/>
          </p:cNvSpPr>
          <p:nvPr/>
        </p:nvSpPr>
        <p:spPr>
          <a:xfrm xmlns:a="http://schemas.openxmlformats.org/drawingml/2006/main">
            <a:off x="4438650" y="1752600"/>
            <a:ext cx="3333750" cy="3028950"/>
          </a:xfrm>
          <a:prstGeom xmlns:a="http://schemas.openxmlformats.org/drawingml/2006/main" prst="roundRect">
            <a:avLst>
              <a:gd name="adj" fmla="val 3774"/>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0E9D01-A938-4A01-B730-45D8085373C1}"/>
              </a:ext>
            </a:extLst>
          </p:cNvPr>
          <p:cNvSpPr>
            <a:spLocks xmlns:a="http://schemas.openxmlformats.org/drawingml/2006/main" noGrp="1"/>
          </p:cNvSpPr>
          <p:nvPr/>
        </p:nvSpPr>
        <p:spPr>
          <a:xfrm xmlns:a="http://schemas.openxmlformats.org/drawingml/2006/main">
            <a:off x="4648200" y="1962150"/>
            <a:ext cx="2914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RAG signals</a:t>
            </a:r>
          </a:p>
        </p:txBody>
      </p:sp>
      <p:sp>
        <p:nvSpPr>
          <p:cNvPr id="10" name="">
            <a:extLst xmlns:a="http://schemas.openxmlformats.org/drawingml/2006/main">
              <a:ext uri="{FF2B5EF4-FFF2-40B4-BE49-F238E27FC236}">
                <a16:creationId xmlns:a16="http://schemas.microsoft.com/office/drawing/2014/main" id="{490A7AB5-1F88-4B1A-986C-FA6F17746169}"/>
              </a:ext>
            </a:extLst>
          </p:cNvPr>
          <p:cNvSpPr>
            <a:spLocks xmlns:a="http://schemas.openxmlformats.org/drawingml/2006/main" noGrp="1"/>
          </p:cNvSpPr>
          <p:nvPr/>
        </p:nvSpPr>
        <p:spPr>
          <a:xfrm xmlns:a="http://schemas.openxmlformats.org/drawingml/2006/main">
            <a:off x="4648200" y="2514600"/>
            <a:ext cx="29146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Evaluation metrics</a:t>
            </a:r>
          </a:p>
          <a:p xmlns:a="http://schemas.openxmlformats.org/drawingml/2006/main">
            <a:pPr algn="l">
              <a:defRPr sz="1275" b="0">
                <a:solidFill>
                  <a:srgbClr val="4E6274"/>
                </a:solidFill>
              </a:defRPr>
            </a:pPr>
            <a:r>
              <a:rPr sz="1275" b="0">
                <a:solidFill>
                  <a:srgbClr val="4E6274"/>
                </a:solidFill>
              </a:rPr>
              <a:t>Groundedness</a:t>
            </a:r>
          </a:p>
          <a:p xmlns:a="http://schemas.openxmlformats.org/drawingml/2006/main">
            <a:pPr algn="l">
              <a:defRPr sz="1275" b="0">
                <a:solidFill>
                  <a:srgbClr val="4E6274"/>
                </a:solidFill>
              </a:defRPr>
            </a:pPr>
            <a:r>
              <a:rPr sz="1275" b="0">
                <a:solidFill>
                  <a:srgbClr val="4E6274"/>
                </a:solidFill>
              </a:rPr>
              <a:t>Citation coverage</a:t>
            </a:r>
          </a:p>
          <a:p xmlns:a="http://schemas.openxmlformats.org/drawingml/2006/main">
            <a:pPr algn="l">
              <a:defRPr sz="1275" b="0">
                <a:solidFill>
                  <a:srgbClr val="4E6274"/>
                </a:solidFill>
              </a:defRPr>
            </a:pPr>
            <a:r>
              <a:rPr sz="1275" b="0">
                <a:solidFill>
                  <a:srgbClr val="4E6274"/>
                </a:solidFill>
              </a:rPr>
              <a:t>Safety-flag counts</a:t>
            </a:r>
          </a:p>
          <a:p xmlns:a="http://schemas.openxmlformats.org/drawingml/2006/main">
            <a:pPr algn="l">
              <a:defRPr sz="1275" b="0">
                <a:solidFill>
                  <a:srgbClr val="4E6274"/>
                </a:solidFill>
              </a:defRPr>
            </a:pPr>
            <a:r>
              <a:rPr sz="1275" b="0">
                <a:solidFill>
                  <a:srgbClr val="4E6274"/>
                </a:solidFill>
              </a:rPr>
              <a:t>Prompt version traceability</a:t>
            </a:r>
          </a:p>
        </p:txBody>
      </p:sp>
      <p:sp>
        <p:nvSpPr>
          <p:cNvPr id="11" name="">
            <a:extLst xmlns:a="http://schemas.openxmlformats.org/drawingml/2006/main">
              <a:ext uri="{FF2B5EF4-FFF2-40B4-BE49-F238E27FC236}">
                <a16:creationId xmlns:a16="http://schemas.microsoft.com/office/drawing/2014/main" id="{25B64172-E053-4193-AD62-7D44C0516275}"/>
              </a:ext>
            </a:extLst>
          </p:cNvPr>
          <p:cNvSpPr>
            <a:spLocks xmlns:a="http://schemas.openxmlformats.org/drawingml/2006/main" noGrp="1"/>
          </p:cNvSpPr>
          <p:nvPr/>
        </p:nvSpPr>
        <p:spPr>
          <a:xfrm xmlns:a="http://schemas.openxmlformats.org/drawingml/2006/main">
            <a:off x="8324850" y="1752600"/>
            <a:ext cx="3314700" cy="3028950"/>
          </a:xfrm>
          <a:prstGeom xmlns:a="http://schemas.openxmlformats.org/drawingml/2006/main" prst="roundRect">
            <a:avLst>
              <a:gd name="adj" fmla="val 3774"/>
            </a:avLst>
          </a:prstGeom>
          <a:solidFill xmlns:a="http://schemas.openxmlformats.org/drawingml/2006/main">
            <a:srgbClr val="F5F8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0EB742C-3FEA-485E-9457-692E29912910}"/>
              </a:ext>
            </a:extLst>
          </p:cNvPr>
          <p:cNvSpPr>
            <a:spLocks xmlns:a="http://schemas.openxmlformats.org/drawingml/2006/main" noGrp="1"/>
          </p:cNvSpPr>
          <p:nvPr/>
        </p:nvSpPr>
        <p:spPr>
          <a:xfrm xmlns:a="http://schemas.openxmlformats.org/drawingml/2006/main">
            <a:off x="8534400" y="1962150"/>
            <a:ext cx="289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Platform signals</a:t>
            </a:r>
          </a:p>
        </p:txBody>
      </p:sp>
      <p:sp>
        <p:nvSpPr>
          <p:cNvPr id="13" name="">
            <a:extLst xmlns:a="http://schemas.openxmlformats.org/drawingml/2006/main">
              <a:ext uri="{FF2B5EF4-FFF2-40B4-BE49-F238E27FC236}">
                <a16:creationId xmlns:a16="http://schemas.microsoft.com/office/drawing/2014/main" id="{5274B6B9-C0F6-49BB-85D2-57237E2649C1}"/>
              </a:ext>
            </a:extLst>
          </p:cNvPr>
          <p:cNvSpPr>
            <a:spLocks xmlns:a="http://schemas.openxmlformats.org/drawingml/2006/main" noGrp="1"/>
          </p:cNvSpPr>
          <p:nvPr/>
        </p:nvSpPr>
        <p:spPr>
          <a:xfrm xmlns:a="http://schemas.openxmlformats.org/drawingml/2006/main">
            <a:off x="8534400" y="2514600"/>
            <a:ext cx="28956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Correlated structured logs</a:t>
            </a:r>
          </a:p>
          <a:p xmlns:a="http://schemas.openxmlformats.org/drawingml/2006/main">
            <a:pPr algn="l">
              <a:defRPr sz="1275" b="0">
                <a:solidFill>
                  <a:srgbClr val="4E6274"/>
                </a:solidFill>
              </a:defRPr>
            </a:pPr>
            <a:r>
              <a:rPr sz="1275" b="0">
                <a:solidFill>
                  <a:srgbClr val="4E6274"/>
                </a:solidFill>
              </a:rPr>
              <a:t>OpenTelemetry traces</a:t>
            </a:r>
          </a:p>
          <a:p xmlns:a="http://schemas.openxmlformats.org/drawingml/2006/main">
            <a:pPr algn="l">
              <a:defRPr sz="1275" b="0">
                <a:solidFill>
                  <a:srgbClr val="4E6274"/>
                </a:solidFill>
              </a:defRPr>
            </a:pPr>
            <a:r>
              <a:rPr sz="1275" b="0">
                <a:solidFill>
                  <a:srgbClr val="4E6274"/>
                </a:solidFill>
              </a:rPr>
              <a:t>Application Insights</a:t>
            </a:r>
          </a:p>
          <a:p xmlns:a="http://schemas.openxmlformats.org/drawingml/2006/main">
            <a:pPr algn="l">
              <a:defRPr sz="1275" b="0">
                <a:solidFill>
                  <a:srgbClr val="4E6274"/>
                </a:solidFill>
              </a:defRPr>
            </a:pPr>
            <a:r>
              <a:rPr sz="1275" b="0">
                <a:solidFill>
                  <a:srgbClr val="4E6274"/>
                </a:solidFill>
              </a:rPr>
              <a:t>Event Hubs publishing</a:t>
            </a:r>
          </a:p>
          <a:p xmlns:a="http://schemas.openxmlformats.org/drawingml/2006/main">
            <a:pPr algn="l">
              <a:defRPr sz="1275" b="0">
                <a:solidFill>
                  <a:srgbClr val="4E6274"/>
                </a:solidFill>
              </a:defRPr>
            </a:pPr>
            <a:r>
              <a:rPr sz="1275" b="0">
                <a:solidFill>
                  <a:srgbClr val="4E6274"/>
                </a:solidFill>
              </a:rPr>
              <a:t>Audit events</a:t>
            </a:r>
          </a:p>
        </p:txBody>
      </p:sp>
      <p:sp>
        <p:nvSpPr>
          <p:cNvPr id="14" name="">
            <a:extLst xmlns:a="http://schemas.openxmlformats.org/drawingml/2006/main">
              <a:ext uri="{FF2B5EF4-FFF2-40B4-BE49-F238E27FC236}">
                <a16:creationId xmlns:a16="http://schemas.microsoft.com/office/drawing/2014/main" id="{35395044-D403-4319-9D2D-A096A4511DFE}"/>
              </a:ext>
            </a:extLst>
          </p:cNvPr>
          <p:cNvSpPr>
            <a:spLocks xmlns:a="http://schemas.openxmlformats.org/drawingml/2006/main" noGrp="1"/>
          </p:cNvSpPr>
          <p:nvPr/>
        </p:nvSpPr>
        <p:spPr>
          <a:xfrm xmlns:a="http://schemas.openxmlformats.org/drawingml/2006/main">
            <a:off x="552450" y="5286375"/>
            <a:ext cx="11087100" cy="495300"/>
          </a:xfrm>
          <a:prstGeom xmlns:a="http://schemas.openxmlformats.org/drawingml/2006/main" prst="roundRect">
            <a:avLst>
              <a:gd name="adj" fmla="val 23077"/>
            </a:avLst>
          </a:prstGeom>
          <a:solidFill xmlns:a="http://schemas.openxmlformats.org/drawingml/2006/main">
            <a:srgbClr val="0B1F3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D35A7CB-C25A-4ABA-ACC3-4137B9340ED5}"/>
              </a:ext>
            </a:extLst>
          </p:cNvPr>
          <p:cNvSpPr>
            <a:spLocks xmlns:a="http://schemas.openxmlformats.org/drawingml/2006/main" noGrp="1"/>
          </p:cNvSpPr>
          <p:nvPr/>
        </p:nvSpPr>
        <p:spPr>
          <a:xfrm xmlns:a="http://schemas.openxmlformats.org/drawingml/2006/main">
            <a:off x="781050" y="5419725"/>
            <a:ext cx="10572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Simplified drift logic today; correct operational seams for a production-grade monitor tomorrow.</a:t>
            </a:r>
          </a:p>
        </p:txBody>
      </p:sp>
    </p:spTree>
    <p:extLst>
      <p:ext uri="{BB962C8B-B14F-4D97-AF65-F5344CB8AC3E}">
        <p14:creationId xmlns:p14="http://schemas.microsoft.com/office/powerpoint/2010/main" val="18741357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2CB850-925A-4C8D-84D1-6E9F3B70E13C}"/>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09  /  AZURE DEPLOYMENT ARCHITECTURE</a:t>
            </a:r>
          </a:p>
        </p:txBody>
      </p:sp>
      <p:sp>
        <p:nvSpPr>
          <p:cNvPr id="2" name="">
            <a:extLst xmlns:a="http://schemas.openxmlformats.org/drawingml/2006/main">
              <a:ext uri="{FF2B5EF4-FFF2-40B4-BE49-F238E27FC236}">
                <a16:creationId xmlns:a16="http://schemas.microsoft.com/office/drawing/2014/main" id="{2816AAF5-2C20-403E-A5D7-81B4EA4C24C5}"/>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Azure deployment: Container Apps as the default path</a:t>
            </a:r>
          </a:p>
        </p:txBody>
      </p:sp>
      <p:sp>
        <p:nvSpPr>
          <p:cNvPr id="3" name="">
            <a:extLst xmlns:a="http://schemas.openxmlformats.org/drawingml/2006/main">
              <a:ext uri="{FF2B5EF4-FFF2-40B4-BE49-F238E27FC236}">
                <a16:creationId xmlns:a16="http://schemas.microsoft.com/office/drawing/2014/main" id="{ECA97923-8E6B-4723-967D-E0A8FF09337B}"/>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73C05D-7B69-4194-B383-58DE15244089}"/>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10</a:t>
            </a:r>
          </a:p>
        </p:txBody>
      </p:sp>
      <p:sp>
        <p:nvSpPr>
          <p:cNvPr id="5" name="">
            <a:extLst xmlns:a="http://schemas.openxmlformats.org/drawingml/2006/main">
              <a:ext uri="{FF2B5EF4-FFF2-40B4-BE49-F238E27FC236}">
                <a16:creationId xmlns:a16="http://schemas.microsoft.com/office/drawing/2014/main" id="{916F1537-2DFD-4D44-AED4-17687F0FD477}"/>
              </a:ext>
            </a:extLst>
          </p:cNvPr>
          <p:cNvSpPr>
            <a:spLocks xmlns:a="http://schemas.openxmlformats.org/drawingml/2006/main" noGrp="1"/>
          </p:cNvSpPr>
          <p:nvPr/>
        </p:nvSpPr>
        <p:spPr>
          <a:xfrm xmlns:a="http://schemas.openxmlformats.org/drawingml/2006/main">
            <a:off x="552450" y="1762125"/>
            <a:ext cx="2571750" cy="1123950"/>
          </a:xfrm>
          <a:prstGeom xmlns:a="http://schemas.openxmlformats.org/drawingml/2006/main" prst="roundRect">
            <a:avLst>
              <a:gd name="adj" fmla="val 10169"/>
            </a:avLst>
          </a:prstGeom>
          <a:solidFill xmlns:a="http://schemas.openxmlformats.org/drawingml/2006/main">
            <a:srgbClr val="EAF5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9CA3AD-3C89-4371-AF59-1B57D103AFF6}"/>
              </a:ext>
            </a:extLst>
          </p:cNvPr>
          <p:cNvSpPr>
            <a:spLocks xmlns:a="http://schemas.openxmlformats.org/drawingml/2006/main" noGrp="1"/>
          </p:cNvSpPr>
          <p:nvPr/>
        </p:nvSpPr>
        <p:spPr>
          <a:xfrm xmlns:a="http://schemas.openxmlformats.org/drawingml/2006/main">
            <a:off x="762000" y="1971675"/>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GitHub Actions</a:t>
            </a:r>
          </a:p>
        </p:txBody>
      </p:sp>
      <p:sp>
        <p:nvSpPr>
          <p:cNvPr id="7" name="">
            <a:extLst xmlns:a="http://schemas.openxmlformats.org/drawingml/2006/main">
              <a:ext uri="{FF2B5EF4-FFF2-40B4-BE49-F238E27FC236}">
                <a16:creationId xmlns:a16="http://schemas.microsoft.com/office/drawing/2014/main" id="{797FBA67-B367-4289-8A40-54E34D82848E}"/>
              </a:ext>
            </a:extLst>
          </p:cNvPr>
          <p:cNvSpPr>
            <a:spLocks xmlns:a="http://schemas.openxmlformats.org/drawingml/2006/main" noGrp="1"/>
          </p:cNvSpPr>
          <p:nvPr/>
        </p:nvSpPr>
        <p:spPr>
          <a:xfrm xmlns:a="http://schemas.openxmlformats.org/drawingml/2006/main">
            <a:off x="762000" y="2524125"/>
            <a:ext cx="2152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Build, push, deploy, smoke test</a:t>
            </a:r>
          </a:p>
        </p:txBody>
      </p:sp>
      <p:sp>
        <p:nvSpPr>
          <p:cNvPr id="8" name="">
            <a:extLst xmlns:a="http://schemas.openxmlformats.org/drawingml/2006/main">
              <a:ext uri="{FF2B5EF4-FFF2-40B4-BE49-F238E27FC236}">
                <a16:creationId xmlns:a16="http://schemas.microsoft.com/office/drawing/2014/main" id="{3348F08E-4E3D-4185-9D20-A1E96B92CB18}"/>
              </a:ext>
            </a:extLst>
          </p:cNvPr>
          <p:cNvSpPr>
            <a:spLocks xmlns:a="http://schemas.openxmlformats.org/drawingml/2006/main" noGrp="1"/>
          </p:cNvSpPr>
          <p:nvPr/>
        </p:nvSpPr>
        <p:spPr>
          <a:xfrm xmlns:a="http://schemas.openxmlformats.org/drawingml/2006/main">
            <a:off x="3181350" y="21336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9" name="">
            <a:extLst xmlns:a="http://schemas.openxmlformats.org/drawingml/2006/main">
              <a:ext uri="{FF2B5EF4-FFF2-40B4-BE49-F238E27FC236}">
                <a16:creationId xmlns:a16="http://schemas.microsoft.com/office/drawing/2014/main" id="{9E17989F-BF49-4D8A-8F60-7F6452BBF6F7}"/>
              </a:ext>
            </a:extLst>
          </p:cNvPr>
          <p:cNvSpPr>
            <a:spLocks xmlns:a="http://schemas.openxmlformats.org/drawingml/2006/main" noGrp="1"/>
          </p:cNvSpPr>
          <p:nvPr/>
        </p:nvSpPr>
        <p:spPr>
          <a:xfrm xmlns:a="http://schemas.openxmlformats.org/drawingml/2006/main">
            <a:off x="3752850" y="1762125"/>
            <a:ext cx="2571750" cy="1123950"/>
          </a:xfrm>
          <a:prstGeom xmlns:a="http://schemas.openxmlformats.org/drawingml/2006/main" prst="roundRect">
            <a:avLst>
              <a:gd name="adj" fmla="val 10169"/>
            </a:avLst>
          </a:prstGeom>
          <a:solidFill xmlns:a="http://schemas.openxmlformats.org/drawingml/2006/main">
            <a:srgbClr val="E7F7F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F010351-B437-40F2-B155-ED6B86A5795B}"/>
              </a:ext>
            </a:extLst>
          </p:cNvPr>
          <p:cNvSpPr>
            <a:spLocks xmlns:a="http://schemas.openxmlformats.org/drawingml/2006/main" noGrp="1"/>
          </p:cNvSpPr>
          <p:nvPr/>
        </p:nvSpPr>
        <p:spPr>
          <a:xfrm xmlns:a="http://schemas.openxmlformats.org/drawingml/2006/main">
            <a:off x="3962400" y="1971675"/>
            <a:ext cx="2152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Azure Container Registry</a:t>
            </a:r>
          </a:p>
        </p:txBody>
      </p:sp>
      <p:sp>
        <p:nvSpPr>
          <p:cNvPr id="11" name="">
            <a:extLst xmlns:a="http://schemas.openxmlformats.org/drawingml/2006/main">
              <a:ext uri="{FF2B5EF4-FFF2-40B4-BE49-F238E27FC236}">
                <a16:creationId xmlns:a16="http://schemas.microsoft.com/office/drawing/2014/main" id="{07AAE872-A0BF-498D-929F-A98336877804}"/>
              </a:ext>
            </a:extLst>
          </p:cNvPr>
          <p:cNvSpPr>
            <a:spLocks xmlns:a="http://schemas.openxmlformats.org/drawingml/2006/main" noGrp="1"/>
          </p:cNvSpPr>
          <p:nvPr/>
        </p:nvSpPr>
        <p:spPr>
          <a:xfrm xmlns:a="http://schemas.openxmlformats.org/drawingml/2006/main">
            <a:off x="3962400" y="2524125"/>
            <a:ext cx="2152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Linux/amd64 service images</a:t>
            </a:r>
          </a:p>
        </p:txBody>
      </p:sp>
      <p:sp>
        <p:nvSpPr>
          <p:cNvPr id="12" name="">
            <a:extLst xmlns:a="http://schemas.openxmlformats.org/drawingml/2006/main">
              <a:ext uri="{FF2B5EF4-FFF2-40B4-BE49-F238E27FC236}">
                <a16:creationId xmlns:a16="http://schemas.microsoft.com/office/drawing/2014/main" id="{D9D9F381-2AC2-4FBE-999E-9381B435A19F}"/>
              </a:ext>
            </a:extLst>
          </p:cNvPr>
          <p:cNvSpPr>
            <a:spLocks xmlns:a="http://schemas.openxmlformats.org/drawingml/2006/main" noGrp="1"/>
          </p:cNvSpPr>
          <p:nvPr/>
        </p:nvSpPr>
        <p:spPr>
          <a:xfrm xmlns:a="http://schemas.openxmlformats.org/drawingml/2006/main">
            <a:off x="6381750" y="21336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177EAF"/>
                </a:solidFill>
              </a:defRPr>
            </a:pPr>
            <a:r>
              <a:rPr sz="2100" b="1">
                <a:solidFill>
                  <a:srgbClr val="177EAF"/>
                </a:solidFill>
              </a:rPr>
              <a:t>→</a:t>
            </a:r>
          </a:p>
        </p:txBody>
      </p:sp>
      <p:sp>
        <p:nvSpPr>
          <p:cNvPr id="13" name="">
            <a:extLst xmlns:a="http://schemas.openxmlformats.org/drawingml/2006/main">
              <a:ext uri="{FF2B5EF4-FFF2-40B4-BE49-F238E27FC236}">
                <a16:creationId xmlns:a16="http://schemas.microsoft.com/office/drawing/2014/main" id="{002B7570-4DDC-4655-975D-4FF7D9EE20C6}"/>
              </a:ext>
            </a:extLst>
          </p:cNvPr>
          <p:cNvSpPr>
            <a:spLocks xmlns:a="http://schemas.openxmlformats.org/drawingml/2006/main" noGrp="1"/>
          </p:cNvSpPr>
          <p:nvPr/>
        </p:nvSpPr>
        <p:spPr>
          <a:xfrm xmlns:a="http://schemas.openxmlformats.org/drawingml/2006/main">
            <a:off x="6953250" y="1762125"/>
            <a:ext cx="4686300" cy="1123950"/>
          </a:xfrm>
          <a:prstGeom xmlns:a="http://schemas.openxmlformats.org/drawingml/2006/main" prst="roundRect">
            <a:avLst>
              <a:gd name="adj" fmla="val 10169"/>
            </a:avLst>
          </a:prstGeom>
          <a:solidFill xmlns:a="http://schemas.openxmlformats.org/drawingml/2006/main">
            <a:srgbClr val="F5F8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290A3E-15A2-453A-81E8-7C7AEEE9E8C1}"/>
              </a:ext>
            </a:extLst>
          </p:cNvPr>
          <p:cNvSpPr>
            <a:spLocks xmlns:a="http://schemas.openxmlformats.org/drawingml/2006/main" noGrp="1"/>
          </p:cNvSpPr>
          <p:nvPr/>
        </p:nvSpPr>
        <p:spPr>
          <a:xfrm xmlns:a="http://schemas.openxmlformats.org/drawingml/2006/main">
            <a:off x="7162800" y="197167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Azure Container Apps</a:t>
            </a:r>
          </a:p>
        </p:txBody>
      </p:sp>
      <p:sp>
        <p:nvSpPr>
          <p:cNvPr id="15" name="">
            <a:extLst xmlns:a="http://schemas.openxmlformats.org/drawingml/2006/main">
              <a:ext uri="{FF2B5EF4-FFF2-40B4-BE49-F238E27FC236}">
                <a16:creationId xmlns:a16="http://schemas.microsoft.com/office/drawing/2014/main" id="{529C515B-267A-404C-B545-7862FFD84A15}"/>
              </a:ext>
            </a:extLst>
          </p:cNvPr>
          <p:cNvSpPr>
            <a:spLocks xmlns:a="http://schemas.openxmlformats.org/drawingml/2006/main" noGrp="1"/>
          </p:cNvSpPr>
          <p:nvPr/>
        </p:nvSpPr>
        <p:spPr>
          <a:xfrm xmlns:a="http://schemas.openxmlformats.org/drawingml/2006/main">
            <a:off x="7162800" y="2524125"/>
            <a:ext cx="426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Control plane · inference · RAG · web console</a:t>
            </a:r>
          </a:p>
        </p:txBody>
      </p:sp>
      <p:sp>
        <p:nvSpPr>
          <p:cNvPr id="16" name="">
            <a:extLst xmlns:a="http://schemas.openxmlformats.org/drawingml/2006/main">
              <a:ext uri="{FF2B5EF4-FFF2-40B4-BE49-F238E27FC236}">
                <a16:creationId xmlns:a16="http://schemas.microsoft.com/office/drawing/2014/main" id="{6345D920-B615-4D27-BE0A-B6ED61C34E7C}"/>
              </a:ext>
            </a:extLst>
          </p:cNvPr>
          <p:cNvSpPr>
            <a:spLocks xmlns:a="http://schemas.openxmlformats.org/drawingml/2006/main" noGrp="1"/>
          </p:cNvSpPr>
          <p:nvPr/>
        </p:nvSpPr>
        <p:spPr>
          <a:xfrm xmlns:a="http://schemas.openxmlformats.org/drawingml/2006/main">
            <a:off x="552450" y="3619500"/>
            <a:ext cx="3371850" cy="647700"/>
          </a:xfrm>
          <a:prstGeom xmlns:a="http://schemas.openxmlformats.org/drawingml/2006/main" prst="roundRect">
            <a:avLst>
              <a:gd name="adj" fmla="val 17647"/>
            </a:avLst>
          </a:prstGeom>
          <a:solidFill xmlns:a="http://schemas.openxmlformats.org/drawingml/2006/main">
            <a:srgbClr val="EAF5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61483B-6758-4E5A-B02E-604A6E7F3A1D}"/>
              </a:ext>
            </a:extLst>
          </p:cNvPr>
          <p:cNvSpPr>
            <a:spLocks xmlns:a="http://schemas.openxmlformats.org/drawingml/2006/main" noGrp="1"/>
          </p:cNvSpPr>
          <p:nvPr/>
        </p:nvSpPr>
        <p:spPr>
          <a:xfrm xmlns:a="http://schemas.openxmlformats.org/drawingml/2006/main">
            <a:off x="704850" y="37623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Key Vault</a:t>
            </a:r>
          </a:p>
        </p:txBody>
      </p:sp>
      <p:sp>
        <p:nvSpPr>
          <p:cNvPr id="18" name="">
            <a:extLst xmlns:a="http://schemas.openxmlformats.org/drawingml/2006/main">
              <a:ext uri="{FF2B5EF4-FFF2-40B4-BE49-F238E27FC236}">
                <a16:creationId xmlns:a16="http://schemas.microsoft.com/office/drawing/2014/main" id="{323BACA4-CA7C-4F55-B196-A3B7798DC73E}"/>
              </a:ext>
            </a:extLst>
          </p:cNvPr>
          <p:cNvSpPr>
            <a:spLocks xmlns:a="http://schemas.openxmlformats.org/drawingml/2006/main" noGrp="1"/>
          </p:cNvSpPr>
          <p:nvPr/>
        </p:nvSpPr>
        <p:spPr>
          <a:xfrm xmlns:a="http://schemas.openxmlformats.org/drawingml/2006/main">
            <a:off x="2019300" y="37719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Externalized configuration</a:t>
            </a:r>
          </a:p>
        </p:txBody>
      </p:sp>
      <p:sp>
        <p:nvSpPr>
          <p:cNvPr id="19" name="">
            <a:extLst xmlns:a="http://schemas.openxmlformats.org/drawingml/2006/main">
              <a:ext uri="{FF2B5EF4-FFF2-40B4-BE49-F238E27FC236}">
                <a16:creationId xmlns:a16="http://schemas.microsoft.com/office/drawing/2014/main" id="{AF5934E3-2752-4423-B38F-5EFEB7C46E14}"/>
              </a:ext>
            </a:extLst>
          </p:cNvPr>
          <p:cNvSpPr>
            <a:spLocks xmlns:a="http://schemas.openxmlformats.org/drawingml/2006/main" noGrp="1"/>
          </p:cNvSpPr>
          <p:nvPr/>
        </p:nvSpPr>
        <p:spPr>
          <a:xfrm xmlns:a="http://schemas.openxmlformats.org/drawingml/2006/main">
            <a:off x="4267200" y="3619500"/>
            <a:ext cx="3371850" cy="647700"/>
          </a:xfrm>
          <a:prstGeom xmlns:a="http://schemas.openxmlformats.org/drawingml/2006/main" prst="roundRect">
            <a:avLst>
              <a:gd name="adj" fmla="val 17647"/>
            </a:avLst>
          </a:prstGeom>
          <a:solidFill xmlns:a="http://schemas.openxmlformats.org/drawingml/2006/main">
            <a:srgbClr val="EAF5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FB5580-2AEE-4F52-B17C-4B2737607646}"/>
              </a:ext>
            </a:extLst>
          </p:cNvPr>
          <p:cNvSpPr>
            <a:spLocks xmlns:a="http://schemas.openxmlformats.org/drawingml/2006/main" noGrp="1"/>
          </p:cNvSpPr>
          <p:nvPr/>
        </p:nvSpPr>
        <p:spPr>
          <a:xfrm xmlns:a="http://schemas.openxmlformats.org/drawingml/2006/main">
            <a:off x="4419600" y="37623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Blob Storage</a:t>
            </a:r>
          </a:p>
        </p:txBody>
      </p:sp>
      <p:sp>
        <p:nvSpPr>
          <p:cNvPr id="21" name="">
            <a:extLst xmlns:a="http://schemas.openxmlformats.org/drawingml/2006/main">
              <a:ext uri="{FF2B5EF4-FFF2-40B4-BE49-F238E27FC236}">
                <a16:creationId xmlns:a16="http://schemas.microsoft.com/office/drawing/2014/main" id="{D64BCAC0-D8A9-4B84-A3BF-26B427DF9413}"/>
              </a:ext>
            </a:extLst>
          </p:cNvPr>
          <p:cNvSpPr>
            <a:spLocks xmlns:a="http://schemas.openxmlformats.org/drawingml/2006/main" noGrp="1"/>
          </p:cNvSpPr>
          <p:nvPr/>
        </p:nvSpPr>
        <p:spPr>
          <a:xfrm xmlns:a="http://schemas.openxmlformats.org/drawingml/2006/main">
            <a:off x="5734050" y="37719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Model bundles and artifacts</a:t>
            </a:r>
          </a:p>
        </p:txBody>
      </p:sp>
      <p:sp>
        <p:nvSpPr>
          <p:cNvPr id="22" name="">
            <a:extLst xmlns:a="http://schemas.openxmlformats.org/drawingml/2006/main">
              <a:ext uri="{FF2B5EF4-FFF2-40B4-BE49-F238E27FC236}">
                <a16:creationId xmlns:a16="http://schemas.microsoft.com/office/drawing/2014/main" id="{9B478405-88E4-4FE2-A72F-5E43319CE862}"/>
              </a:ext>
            </a:extLst>
          </p:cNvPr>
          <p:cNvSpPr>
            <a:spLocks xmlns:a="http://schemas.openxmlformats.org/drawingml/2006/main" noGrp="1"/>
          </p:cNvSpPr>
          <p:nvPr/>
        </p:nvSpPr>
        <p:spPr>
          <a:xfrm xmlns:a="http://schemas.openxmlformats.org/drawingml/2006/main">
            <a:off x="7981950" y="3619500"/>
            <a:ext cx="3371850" cy="647700"/>
          </a:xfrm>
          <a:prstGeom xmlns:a="http://schemas.openxmlformats.org/drawingml/2006/main" prst="roundRect">
            <a:avLst>
              <a:gd name="adj" fmla="val 17647"/>
            </a:avLst>
          </a:prstGeom>
          <a:solidFill xmlns:a="http://schemas.openxmlformats.org/drawingml/2006/main">
            <a:srgbClr val="E7F7F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A85D45A-B0AF-4F80-84A4-3D4369D2958F}"/>
              </a:ext>
            </a:extLst>
          </p:cNvPr>
          <p:cNvSpPr>
            <a:spLocks xmlns:a="http://schemas.openxmlformats.org/drawingml/2006/main" noGrp="1"/>
          </p:cNvSpPr>
          <p:nvPr/>
        </p:nvSpPr>
        <p:spPr>
          <a:xfrm xmlns:a="http://schemas.openxmlformats.org/drawingml/2006/main">
            <a:off x="8134350" y="37623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AI Search</a:t>
            </a:r>
          </a:p>
        </p:txBody>
      </p:sp>
      <p:sp>
        <p:nvSpPr>
          <p:cNvPr id="24" name="">
            <a:extLst xmlns:a="http://schemas.openxmlformats.org/drawingml/2006/main">
              <a:ext uri="{FF2B5EF4-FFF2-40B4-BE49-F238E27FC236}">
                <a16:creationId xmlns:a16="http://schemas.microsoft.com/office/drawing/2014/main" id="{167A238F-3711-43A6-AAB2-3BF5DA467EC0}"/>
              </a:ext>
            </a:extLst>
          </p:cNvPr>
          <p:cNvSpPr>
            <a:spLocks xmlns:a="http://schemas.openxmlformats.org/drawingml/2006/main" noGrp="1"/>
          </p:cNvSpPr>
          <p:nvPr/>
        </p:nvSpPr>
        <p:spPr>
          <a:xfrm xmlns:a="http://schemas.openxmlformats.org/drawingml/2006/main">
            <a:off x="9448800" y="37719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Vector + hybrid retrieval</a:t>
            </a:r>
          </a:p>
        </p:txBody>
      </p:sp>
      <p:sp>
        <p:nvSpPr>
          <p:cNvPr id="25" name="">
            <a:extLst xmlns:a="http://schemas.openxmlformats.org/drawingml/2006/main">
              <a:ext uri="{FF2B5EF4-FFF2-40B4-BE49-F238E27FC236}">
                <a16:creationId xmlns:a16="http://schemas.microsoft.com/office/drawing/2014/main" id="{0A8CA970-E1F2-4CBD-9D4B-F5759C50304E}"/>
              </a:ext>
            </a:extLst>
          </p:cNvPr>
          <p:cNvSpPr>
            <a:spLocks xmlns:a="http://schemas.openxmlformats.org/drawingml/2006/main" noGrp="1"/>
          </p:cNvSpPr>
          <p:nvPr/>
        </p:nvSpPr>
        <p:spPr>
          <a:xfrm xmlns:a="http://schemas.openxmlformats.org/drawingml/2006/main">
            <a:off x="552450" y="4533900"/>
            <a:ext cx="3371850" cy="647700"/>
          </a:xfrm>
          <a:prstGeom xmlns:a="http://schemas.openxmlformats.org/drawingml/2006/main" prst="roundRect">
            <a:avLst>
              <a:gd name="adj" fmla="val 17647"/>
            </a:avLst>
          </a:prstGeom>
          <a:solidFill xmlns:a="http://schemas.openxmlformats.org/drawingml/2006/main">
            <a:srgbClr val="EAF5F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F1DE3E-0741-4CD8-B4BE-5351CD176083}"/>
              </a:ext>
            </a:extLst>
          </p:cNvPr>
          <p:cNvSpPr>
            <a:spLocks xmlns:a="http://schemas.openxmlformats.org/drawingml/2006/main" noGrp="1"/>
          </p:cNvSpPr>
          <p:nvPr/>
        </p:nvSpPr>
        <p:spPr>
          <a:xfrm xmlns:a="http://schemas.openxmlformats.org/drawingml/2006/main">
            <a:off x="704850" y="46767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App Insights</a:t>
            </a:r>
          </a:p>
        </p:txBody>
      </p:sp>
      <p:sp>
        <p:nvSpPr>
          <p:cNvPr id="27" name="">
            <a:extLst xmlns:a="http://schemas.openxmlformats.org/drawingml/2006/main">
              <a:ext uri="{FF2B5EF4-FFF2-40B4-BE49-F238E27FC236}">
                <a16:creationId xmlns:a16="http://schemas.microsoft.com/office/drawing/2014/main" id="{CC3955AB-4565-4252-85D8-D0872CE7E9E6}"/>
              </a:ext>
            </a:extLst>
          </p:cNvPr>
          <p:cNvSpPr>
            <a:spLocks xmlns:a="http://schemas.openxmlformats.org/drawingml/2006/main" noGrp="1"/>
          </p:cNvSpPr>
          <p:nvPr/>
        </p:nvSpPr>
        <p:spPr>
          <a:xfrm xmlns:a="http://schemas.openxmlformats.org/drawingml/2006/main">
            <a:off x="2019300" y="4686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Traces and logs</a:t>
            </a:r>
          </a:p>
        </p:txBody>
      </p:sp>
      <p:sp>
        <p:nvSpPr>
          <p:cNvPr id="28" name="">
            <a:extLst xmlns:a="http://schemas.openxmlformats.org/drawingml/2006/main">
              <a:ext uri="{FF2B5EF4-FFF2-40B4-BE49-F238E27FC236}">
                <a16:creationId xmlns:a16="http://schemas.microsoft.com/office/drawing/2014/main" id="{DE0A2A84-559A-4EEF-943E-20EC4907E793}"/>
              </a:ext>
            </a:extLst>
          </p:cNvPr>
          <p:cNvSpPr>
            <a:spLocks xmlns:a="http://schemas.openxmlformats.org/drawingml/2006/main" noGrp="1"/>
          </p:cNvSpPr>
          <p:nvPr/>
        </p:nvSpPr>
        <p:spPr>
          <a:xfrm xmlns:a="http://schemas.openxmlformats.org/drawingml/2006/main">
            <a:off x="4267200" y="4533900"/>
            <a:ext cx="3371850" cy="647700"/>
          </a:xfrm>
          <a:prstGeom xmlns:a="http://schemas.openxmlformats.org/drawingml/2006/main" prst="roundRect">
            <a:avLst>
              <a:gd name="adj" fmla="val 17647"/>
            </a:avLst>
          </a:prstGeom>
          <a:solidFill xmlns:a="http://schemas.openxmlformats.org/drawingml/2006/main">
            <a:srgbClr val="EAF5F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0C235D8-3914-48D1-9CD5-3B6908818769}"/>
              </a:ext>
            </a:extLst>
          </p:cNvPr>
          <p:cNvSpPr>
            <a:spLocks xmlns:a="http://schemas.openxmlformats.org/drawingml/2006/main" noGrp="1"/>
          </p:cNvSpPr>
          <p:nvPr/>
        </p:nvSpPr>
        <p:spPr>
          <a:xfrm xmlns:a="http://schemas.openxmlformats.org/drawingml/2006/main">
            <a:off x="4419600" y="46767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Event Hubs</a:t>
            </a:r>
          </a:p>
        </p:txBody>
      </p:sp>
      <p:sp>
        <p:nvSpPr>
          <p:cNvPr id="30" name="">
            <a:extLst xmlns:a="http://schemas.openxmlformats.org/drawingml/2006/main">
              <a:ext uri="{FF2B5EF4-FFF2-40B4-BE49-F238E27FC236}">
                <a16:creationId xmlns:a16="http://schemas.microsoft.com/office/drawing/2014/main" id="{A41B8C98-6BF7-48CF-B0F5-AD812D2A4ECF}"/>
              </a:ext>
            </a:extLst>
          </p:cNvPr>
          <p:cNvSpPr>
            <a:spLocks xmlns:a="http://schemas.openxmlformats.org/drawingml/2006/main" noGrp="1"/>
          </p:cNvSpPr>
          <p:nvPr/>
        </p:nvSpPr>
        <p:spPr>
          <a:xfrm xmlns:a="http://schemas.openxmlformats.org/drawingml/2006/main">
            <a:off x="5734050" y="4686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Prediction and audit events</a:t>
            </a:r>
          </a:p>
        </p:txBody>
      </p:sp>
      <p:sp>
        <p:nvSpPr>
          <p:cNvPr id="31" name="">
            <a:extLst xmlns:a="http://schemas.openxmlformats.org/drawingml/2006/main">
              <a:ext uri="{FF2B5EF4-FFF2-40B4-BE49-F238E27FC236}">
                <a16:creationId xmlns:a16="http://schemas.microsoft.com/office/drawing/2014/main" id="{8D1E54A0-9FCB-447B-9053-DE8408DE26B7}"/>
              </a:ext>
            </a:extLst>
          </p:cNvPr>
          <p:cNvSpPr>
            <a:spLocks xmlns:a="http://schemas.openxmlformats.org/drawingml/2006/main" noGrp="1"/>
          </p:cNvSpPr>
          <p:nvPr/>
        </p:nvSpPr>
        <p:spPr>
          <a:xfrm xmlns:a="http://schemas.openxmlformats.org/drawingml/2006/main">
            <a:off x="7981950" y="4533900"/>
            <a:ext cx="3371850" cy="647700"/>
          </a:xfrm>
          <a:prstGeom xmlns:a="http://schemas.openxmlformats.org/drawingml/2006/main" prst="roundRect">
            <a:avLst>
              <a:gd name="adj" fmla="val 17647"/>
            </a:avLst>
          </a:prstGeom>
          <a:solidFill xmlns:a="http://schemas.openxmlformats.org/drawingml/2006/main">
            <a:srgbClr val="EAF5F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0189E7E-06BE-4756-AD73-28CFF4D9951F}"/>
              </a:ext>
            </a:extLst>
          </p:cNvPr>
          <p:cNvSpPr>
            <a:spLocks xmlns:a="http://schemas.openxmlformats.org/drawingml/2006/main" noGrp="1"/>
          </p:cNvSpPr>
          <p:nvPr/>
        </p:nvSpPr>
        <p:spPr>
          <a:xfrm xmlns:a="http://schemas.openxmlformats.org/drawingml/2006/main">
            <a:off x="8134350" y="467677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1F33"/>
                </a:solidFill>
              </a:defRPr>
            </a:pPr>
            <a:r>
              <a:rPr sz="1350" b="1">
                <a:solidFill>
                  <a:srgbClr val="0B1F33"/>
                </a:solidFill>
              </a:rPr>
              <a:t>Postgres / Redis</a:t>
            </a:r>
          </a:p>
        </p:txBody>
      </p:sp>
      <p:sp>
        <p:nvSpPr>
          <p:cNvPr id="33" name="">
            <a:extLst xmlns:a="http://schemas.openxmlformats.org/drawingml/2006/main">
              <a:ext uri="{FF2B5EF4-FFF2-40B4-BE49-F238E27FC236}">
                <a16:creationId xmlns:a16="http://schemas.microsoft.com/office/drawing/2014/main" id="{240F623B-BEA5-40EA-8BF9-572849C8028C}"/>
              </a:ext>
            </a:extLst>
          </p:cNvPr>
          <p:cNvSpPr>
            <a:spLocks xmlns:a="http://schemas.openxmlformats.org/drawingml/2006/main" noGrp="1"/>
          </p:cNvSpPr>
          <p:nvPr/>
        </p:nvSpPr>
        <p:spPr>
          <a:xfrm xmlns:a="http://schemas.openxmlformats.org/drawingml/2006/main">
            <a:off x="9448800" y="46863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4E6274"/>
                </a:solidFill>
              </a:defRPr>
            </a:pPr>
            <a:r>
              <a:rPr sz="1125" b="0">
                <a:solidFill>
                  <a:srgbClr val="4E6274"/>
                </a:solidFill>
              </a:rPr>
              <a:t>Metadata and acceleration</a:t>
            </a:r>
          </a:p>
        </p:txBody>
      </p:sp>
    </p:spTree>
    <p:extLst>
      <p:ext uri="{BB962C8B-B14F-4D97-AF65-F5344CB8AC3E}">
        <p14:creationId xmlns:p14="http://schemas.microsoft.com/office/powerpoint/2010/main" val="2589532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5F4B48-578A-4DDD-A3C7-EF7373977D3A}"/>
              </a:ext>
            </a:extLst>
          </p:cNvPr>
          <p:cNvSpPr>
            <a:spLocks xmlns:a="http://schemas.openxmlformats.org/drawingml/2006/main" noGrp="1"/>
          </p:cNvSpPr>
          <p:nvPr/>
        </p:nvSpPr>
        <p:spPr>
          <a:xfrm xmlns:a="http://schemas.openxmlformats.org/drawingml/2006/main">
            <a:off x="552450" y="3238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77EAF"/>
                </a:solidFill>
              </a:defRPr>
            </a:pPr>
            <a:r>
              <a:rPr sz="1125" b="1">
                <a:solidFill>
                  <a:srgbClr val="177EAF"/>
                </a:solidFill>
              </a:rPr>
              <a:t>10  /  TRADE-OFFS, RISKS, AND WHAT IS MOCKED</a:t>
            </a:r>
          </a:p>
        </p:txBody>
      </p:sp>
      <p:sp>
        <p:nvSpPr>
          <p:cNvPr id="2" name="">
            <a:extLst xmlns:a="http://schemas.openxmlformats.org/drawingml/2006/main">
              <a:ext uri="{FF2B5EF4-FFF2-40B4-BE49-F238E27FC236}">
                <a16:creationId xmlns:a16="http://schemas.microsoft.com/office/drawing/2014/main" id="{F366C022-1C91-44A2-A8FA-EECEA6E368D8}"/>
              </a:ext>
            </a:extLst>
          </p:cNvPr>
          <p:cNvSpPr>
            <a:spLocks xmlns:a="http://schemas.openxmlformats.org/drawingml/2006/main" noGrp="1"/>
          </p:cNvSpPr>
          <p:nvPr/>
        </p:nvSpPr>
        <p:spPr>
          <a:xfrm xmlns:a="http://schemas.openxmlformats.org/drawingml/2006/main">
            <a:off x="552450" y="63817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B1F33"/>
                </a:solidFill>
              </a:defRPr>
            </a:pPr>
            <a:r>
              <a:rPr sz="2850" b="1">
                <a:solidFill>
                  <a:srgbClr val="0B1F33"/>
                </a:solidFill>
              </a:rPr>
              <a:t>Be explicit about the seams between demo and production</a:t>
            </a:r>
          </a:p>
        </p:txBody>
      </p:sp>
      <p:sp>
        <p:nvSpPr>
          <p:cNvPr id="3" name="">
            <a:extLst xmlns:a="http://schemas.openxmlformats.org/drawingml/2006/main">
              <a:ext uri="{FF2B5EF4-FFF2-40B4-BE49-F238E27FC236}">
                <a16:creationId xmlns:a16="http://schemas.microsoft.com/office/drawing/2014/main" id="{633CBD2A-7FE9-4ABF-B945-9CA5F1F7D385}"/>
              </a:ext>
            </a:extLst>
          </p:cNvPr>
          <p:cNvSpPr>
            <a:spLocks xmlns:a="http://schemas.openxmlformats.org/drawingml/2006/main" noGrp="1"/>
          </p:cNvSpPr>
          <p:nvPr/>
        </p:nvSpPr>
        <p:spPr>
          <a:xfrm xmlns:a="http://schemas.openxmlformats.org/drawingml/2006/main">
            <a:off x="552450" y="1295400"/>
            <a:ext cx="11087100" cy="19050"/>
          </a:xfrm>
          <a:prstGeom xmlns:a="http://schemas.openxmlformats.org/drawingml/2006/main" prst="rect">
            <a:avLst/>
          </a:prstGeom>
          <a:solidFill xmlns:a="http://schemas.openxmlformats.org/drawingml/2006/main">
            <a:srgbClr val="D9E3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9E052B-3928-4949-8334-809920F217A3}"/>
              </a:ext>
            </a:extLst>
          </p:cNvPr>
          <p:cNvSpPr>
            <a:spLocks xmlns:a="http://schemas.openxmlformats.org/drawingml/2006/main" noGrp="1"/>
          </p:cNvSpPr>
          <p:nvPr/>
        </p:nvSpPr>
        <p:spPr>
          <a:xfrm xmlns:a="http://schemas.openxmlformats.org/drawingml/2006/main">
            <a:off x="11144250" y="633412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4E6274"/>
                </a:solidFill>
              </a:defRPr>
            </a:pPr>
            <a:r>
              <a:rPr sz="1050" b="1">
                <a:solidFill>
                  <a:srgbClr val="4E6274"/>
                </a:solidFill>
              </a:rPr>
              <a:t>11</a:t>
            </a:r>
          </a:p>
        </p:txBody>
      </p:sp>
      <p:sp>
        <p:nvSpPr>
          <p:cNvPr id="5" name="">
            <a:extLst xmlns:a="http://schemas.openxmlformats.org/drawingml/2006/main">
              <a:ext uri="{FF2B5EF4-FFF2-40B4-BE49-F238E27FC236}">
                <a16:creationId xmlns:a16="http://schemas.microsoft.com/office/drawing/2014/main" id="{FA7BFE4A-3F30-4FF0-8E70-829C6AA49F78}"/>
              </a:ext>
            </a:extLst>
          </p:cNvPr>
          <p:cNvSpPr>
            <a:spLocks xmlns:a="http://schemas.openxmlformats.org/drawingml/2006/main" noGrp="1"/>
          </p:cNvSpPr>
          <p:nvPr/>
        </p:nvSpPr>
        <p:spPr>
          <a:xfrm xmlns:a="http://schemas.openxmlformats.org/drawingml/2006/main">
            <a:off x="552450" y="1752600"/>
            <a:ext cx="5143500" cy="3295650"/>
          </a:xfrm>
          <a:prstGeom xmlns:a="http://schemas.openxmlformats.org/drawingml/2006/main" prst="roundRect">
            <a:avLst>
              <a:gd name="adj" fmla="val 3468"/>
            </a:avLst>
          </a:prstGeom>
          <a:solidFill xmlns:a="http://schemas.openxmlformats.org/drawingml/2006/main">
            <a:srgbClr val="FFF3D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835FF8-B4E9-4E25-A624-B66E71DA9034}"/>
              </a:ext>
            </a:extLst>
          </p:cNvPr>
          <p:cNvSpPr>
            <a:spLocks xmlns:a="http://schemas.openxmlformats.org/drawingml/2006/main" noGrp="1"/>
          </p:cNvSpPr>
          <p:nvPr/>
        </p:nvSpPr>
        <p:spPr>
          <a:xfrm xmlns:a="http://schemas.openxmlformats.org/drawingml/2006/main">
            <a:off x="762000" y="1962150"/>
            <a:ext cx="472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Intentionally simplified</a:t>
            </a:r>
          </a:p>
        </p:txBody>
      </p:sp>
      <p:sp>
        <p:nvSpPr>
          <p:cNvPr id="7" name="">
            <a:extLst xmlns:a="http://schemas.openxmlformats.org/drawingml/2006/main">
              <a:ext uri="{FF2B5EF4-FFF2-40B4-BE49-F238E27FC236}">
                <a16:creationId xmlns:a16="http://schemas.microsoft.com/office/drawing/2014/main" id="{43A04345-498E-4781-9C0C-AB8C3575740A}"/>
              </a:ext>
            </a:extLst>
          </p:cNvPr>
          <p:cNvSpPr>
            <a:spLocks xmlns:a="http://schemas.openxmlformats.org/drawingml/2006/main" noGrp="1"/>
          </p:cNvSpPr>
          <p:nvPr/>
        </p:nvSpPr>
        <p:spPr>
          <a:xfrm xmlns:a="http://schemas.openxmlformats.org/drawingml/2006/main">
            <a:off x="762000" y="2514600"/>
            <a:ext cx="4724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Synthetic data only</a:t>
            </a:r>
          </a:p>
          <a:p xmlns:a="http://schemas.openxmlformats.org/drawingml/2006/main">
            <a:pPr algn="l">
              <a:defRPr sz="1275" b="0">
                <a:solidFill>
                  <a:srgbClr val="4E6274"/>
                </a:solidFill>
              </a:defRPr>
            </a:pPr>
            <a:r>
              <a:rPr sz="1275" b="0">
                <a:solidFill>
                  <a:srgbClr val="4E6274"/>
                </a:solidFill>
              </a:rPr>
              <a:t>Local fallback embeddings and chat provider</a:t>
            </a:r>
          </a:p>
          <a:p xmlns:a="http://schemas.openxmlformats.org/drawingml/2006/main">
            <a:pPr algn="l">
              <a:defRPr sz="1275" b="0">
                <a:solidFill>
                  <a:srgbClr val="4E6274"/>
                </a:solidFill>
              </a:defRPr>
            </a:pPr>
            <a:r>
              <a:rPr sz="1275" b="0">
                <a:solidFill>
                  <a:srgbClr val="4E6274"/>
                </a:solidFill>
              </a:rPr>
              <a:t>Lightweight deterministic drift logic</a:t>
            </a:r>
          </a:p>
          <a:p xmlns:a="http://schemas.openxmlformats.org/drawingml/2006/main">
            <a:pPr algn="l">
              <a:defRPr sz="1275" b="0">
                <a:solidFill>
                  <a:srgbClr val="4E6274"/>
                </a:solidFill>
              </a:defRPr>
            </a:pPr>
            <a:r>
              <a:rPr sz="1275" b="0">
                <a:solidFill>
                  <a:srgbClr val="4E6274"/>
                </a:solidFill>
              </a:rPr>
              <a:t>Simplified reason codes and rules</a:t>
            </a:r>
          </a:p>
          <a:p xmlns:a="http://schemas.openxmlformats.org/drawingml/2006/main">
            <a:pPr algn="l">
              <a:defRPr sz="1275" b="0">
                <a:solidFill>
                  <a:srgbClr val="4E6274"/>
                </a:solidFill>
              </a:defRPr>
            </a:pPr>
            <a:r>
              <a:rPr sz="1275" b="0">
                <a:solidFill>
                  <a:srgbClr val="4E6274"/>
                </a:solidFill>
              </a:rPr>
              <a:t>No clinical workflow integration</a:t>
            </a:r>
          </a:p>
        </p:txBody>
      </p:sp>
      <p:sp>
        <p:nvSpPr>
          <p:cNvPr id="8" name="">
            <a:extLst xmlns:a="http://schemas.openxmlformats.org/drawingml/2006/main">
              <a:ext uri="{FF2B5EF4-FFF2-40B4-BE49-F238E27FC236}">
                <a16:creationId xmlns:a16="http://schemas.microsoft.com/office/drawing/2014/main" id="{DDE14E47-B482-4616-9AF9-48D316AAC996}"/>
              </a:ext>
            </a:extLst>
          </p:cNvPr>
          <p:cNvSpPr>
            <a:spLocks xmlns:a="http://schemas.openxmlformats.org/drawingml/2006/main" noGrp="1"/>
          </p:cNvSpPr>
          <p:nvPr/>
        </p:nvSpPr>
        <p:spPr>
          <a:xfrm xmlns:a="http://schemas.openxmlformats.org/drawingml/2006/main">
            <a:off x="6496050" y="1752600"/>
            <a:ext cx="5143500" cy="3295650"/>
          </a:xfrm>
          <a:prstGeom xmlns:a="http://schemas.openxmlformats.org/drawingml/2006/main" prst="roundRect">
            <a:avLst>
              <a:gd name="adj" fmla="val 3468"/>
            </a:avLst>
          </a:prstGeom>
          <a:solidFill xmlns:a="http://schemas.openxmlformats.org/drawingml/2006/main">
            <a:srgbClr val="E7F7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E6421F8-4200-4457-9A8E-3C9ABD584AC8}"/>
              </a:ext>
            </a:extLst>
          </p:cNvPr>
          <p:cNvSpPr>
            <a:spLocks xmlns:a="http://schemas.openxmlformats.org/drawingml/2006/main" noGrp="1"/>
          </p:cNvSpPr>
          <p:nvPr/>
        </p:nvSpPr>
        <p:spPr>
          <a:xfrm xmlns:a="http://schemas.openxmlformats.org/drawingml/2006/main">
            <a:off x="6705600" y="1962150"/>
            <a:ext cx="4724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1F33"/>
                </a:solidFill>
              </a:defRPr>
            </a:pPr>
            <a:r>
              <a:rPr sz="1650" b="1">
                <a:solidFill>
                  <a:srgbClr val="0B1F33"/>
                </a:solidFill>
              </a:rPr>
              <a:t>Why it still demonstrates production judgment</a:t>
            </a:r>
          </a:p>
        </p:txBody>
      </p:sp>
      <p:sp>
        <p:nvSpPr>
          <p:cNvPr id="10" name="">
            <a:extLst xmlns:a="http://schemas.openxmlformats.org/drawingml/2006/main">
              <a:ext uri="{FF2B5EF4-FFF2-40B4-BE49-F238E27FC236}">
                <a16:creationId xmlns:a16="http://schemas.microsoft.com/office/drawing/2014/main" id="{E32741BD-9524-4EBB-98C5-9DB9CF35E049}"/>
              </a:ext>
            </a:extLst>
          </p:cNvPr>
          <p:cNvSpPr>
            <a:spLocks xmlns:a="http://schemas.openxmlformats.org/drawingml/2006/main" noGrp="1"/>
          </p:cNvSpPr>
          <p:nvPr/>
        </p:nvSpPr>
        <p:spPr>
          <a:xfrm xmlns:a="http://schemas.openxmlformats.org/drawingml/2006/main">
            <a:off x="6705600" y="2514600"/>
            <a:ext cx="4724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4E6274"/>
                </a:solidFill>
              </a:defRPr>
            </a:pPr>
            <a:r>
              <a:rPr sz="1275" b="0">
                <a:solidFill>
                  <a:srgbClr val="4E6274"/>
                </a:solidFill>
              </a:rPr>
              <a:t>Architecture is realistic</a:t>
            </a:r>
          </a:p>
          <a:p xmlns:a="http://schemas.openxmlformats.org/drawingml/2006/main">
            <a:pPr algn="l">
              <a:defRPr sz="1275" b="0">
                <a:solidFill>
                  <a:srgbClr val="4E6274"/>
                </a:solidFill>
              </a:defRPr>
            </a:pPr>
            <a:r>
              <a:rPr sz="1275" b="0">
                <a:solidFill>
                  <a:srgbClr val="4E6274"/>
                </a:solidFill>
              </a:rPr>
              <a:t>Control points are production-aligned</a:t>
            </a:r>
          </a:p>
          <a:p xmlns:a="http://schemas.openxmlformats.org/drawingml/2006/main">
            <a:pPr algn="l">
              <a:defRPr sz="1275" b="0">
                <a:solidFill>
                  <a:srgbClr val="4E6274"/>
                </a:solidFill>
              </a:defRPr>
            </a:pPr>
            <a:r>
              <a:rPr sz="1275" b="0">
                <a:solidFill>
                  <a:srgbClr val="4E6274"/>
                </a:solidFill>
              </a:rPr>
              <a:t>Azure deployment path is concrete</a:t>
            </a:r>
          </a:p>
          <a:p xmlns:a="http://schemas.openxmlformats.org/drawingml/2006/main">
            <a:pPr algn="l">
              <a:defRPr sz="1275" b="0">
                <a:solidFill>
                  <a:srgbClr val="4E6274"/>
                </a:solidFill>
              </a:defRPr>
            </a:pPr>
            <a:r>
              <a:rPr sz="1275" b="0">
                <a:solidFill>
                  <a:srgbClr val="4E6274"/>
                </a:solidFill>
              </a:rPr>
              <a:t>Governance and audit boundaries are visible</a:t>
            </a:r>
          </a:p>
          <a:p xmlns:a="http://schemas.openxmlformats.org/drawingml/2006/main">
            <a:pPr algn="l">
              <a:defRPr sz="1275" b="0">
                <a:solidFill>
                  <a:srgbClr val="4E6274"/>
                </a:solidFill>
              </a:defRPr>
            </a:pPr>
            <a:r>
              <a:rPr sz="1275" b="0">
                <a:solidFill>
                  <a:srgbClr val="4E6274"/>
                </a:solidFill>
              </a:rPr>
              <a:t>Known gaps are called out, not hidden</a:t>
            </a:r>
          </a:p>
        </p:txBody>
      </p:sp>
      <p:sp>
        <p:nvSpPr>
          <p:cNvPr id="11" name="">
            <a:extLst xmlns:a="http://schemas.openxmlformats.org/drawingml/2006/main">
              <a:ext uri="{FF2B5EF4-FFF2-40B4-BE49-F238E27FC236}">
                <a16:creationId xmlns:a16="http://schemas.microsoft.com/office/drawing/2014/main" id="{4F67E0DA-CB7F-4F06-8996-EC109D17EB74}"/>
              </a:ext>
            </a:extLst>
          </p:cNvPr>
          <p:cNvSpPr>
            <a:spLocks xmlns:a="http://schemas.openxmlformats.org/drawingml/2006/main" noGrp="1"/>
          </p:cNvSpPr>
          <p:nvPr/>
        </p:nvSpPr>
        <p:spPr>
          <a:xfrm xmlns:a="http://schemas.openxmlformats.org/drawingml/2006/main">
            <a:off x="552450" y="55245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7EAF"/>
                </a:solidFill>
              </a:defRPr>
            </a:pPr>
            <a:r>
              <a:rPr sz="1725" b="1">
                <a:solidFill>
                  <a:srgbClr val="177EAF"/>
                </a:solidFill>
              </a:rPr>
              <a:t>Honesty about scope is an asset in a system-design interview.</a:t>
            </a:r>
          </a:p>
        </p:txBody>
      </p:sp>
    </p:spTree>
    <p:extLst>
      <p:ext uri="{BB962C8B-B14F-4D97-AF65-F5344CB8AC3E}">
        <p14:creationId xmlns:p14="http://schemas.microsoft.com/office/powerpoint/2010/main" val="1602152062"/>
      </p:ext>
    </p:extLst>
  </p:cSld>
</p:sld>
</file>

<file path=ppt/slides/slide12.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96A3F1-8D91-4539-905C-D3096FADC649}"/>
              </a:ext>
            </a:extLst>
          </p:cNvPr>
          <p:cNvSpPr>
            <a:spLocks xmlns:a="http://schemas.openxmlformats.org/drawingml/2006/main" noGrp="1"/>
          </p:cNvSpPr>
          <p:nvPr/>
        </p:nvSpPr>
        <p:spPr>
          <a:xfrm xmlns:a="http://schemas.openxmlformats.org/drawingml/2006/main">
            <a:off x="647700" y="5905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84D8D0"/>
                </a:solidFill>
              </a:defRPr>
            </a:pPr>
            <a:r>
              <a:rPr sz="1200" b="1">
                <a:solidFill>
                  <a:srgbClr val="84D8D0"/>
                </a:solidFill>
              </a:rPr>
              <a:t>CAREAI PLATFORM</a:t>
            </a:r>
          </a:p>
        </p:txBody>
      </p:sp>
      <p:sp>
        <p:nvSpPr>
          <p:cNvPr id="2" name="">
            <a:extLst xmlns:a="http://schemas.openxmlformats.org/drawingml/2006/main">
              <a:ext uri="{FF2B5EF4-FFF2-40B4-BE49-F238E27FC236}">
                <a16:creationId xmlns:a16="http://schemas.microsoft.com/office/drawing/2014/main" id="{5B9696CB-D1B8-498C-8A94-8FA8863CFDFA}"/>
              </a:ext>
            </a:extLst>
          </p:cNvPr>
          <p:cNvSpPr>
            <a:spLocks xmlns:a="http://schemas.openxmlformats.org/drawingml/2006/main" noGrp="1"/>
          </p:cNvSpPr>
          <p:nvPr/>
        </p:nvSpPr>
        <p:spPr>
          <a:xfrm xmlns:a="http://schemas.openxmlformats.org/drawingml/2006/main">
            <a:off x="647700" y="1333500"/>
            <a:ext cx="8763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FFFFFF"/>
                </a:solidFill>
              </a:defRPr>
            </a:pPr>
            <a:r>
              <a:rPr sz="3750" b="1">
                <a:solidFill>
                  <a:srgbClr val="FFFFFF"/>
                </a:solidFill>
              </a:rPr>
              <a:t>A reusable AI platform—</a:t>
            </a:r>
          </a:p>
          <a:p xmlns:a="http://schemas.openxmlformats.org/drawingml/2006/main">
            <a:pPr algn="l">
              <a:defRPr sz="3750" b="1">
                <a:solidFill>
                  <a:srgbClr val="FFFFFF"/>
                </a:solidFill>
              </a:defRPr>
            </a:pPr>
            <a:r>
              <a:rPr sz="3750" b="1">
                <a:solidFill>
                  <a:srgbClr val="FFFFFF"/>
                </a:solidFill>
              </a:rPr>
              <a:t>not a collection of demos.</a:t>
            </a:r>
          </a:p>
        </p:txBody>
      </p:sp>
      <p:sp>
        <p:nvSpPr>
          <p:cNvPr id="3" name="">
            <a:extLst xmlns:a="http://schemas.openxmlformats.org/drawingml/2006/main">
              <a:ext uri="{FF2B5EF4-FFF2-40B4-BE49-F238E27FC236}">
                <a16:creationId xmlns:a16="http://schemas.microsoft.com/office/drawing/2014/main" id="{52E75426-4532-4A6D-8E3A-6AE544504F30}"/>
              </a:ext>
            </a:extLst>
          </p:cNvPr>
          <p:cNvSpPr>
            <a:spLocks xmlns:a="http://schemas.openxmlformats.org/drawingml/2006/main" noGrp="1"/>
          </p:cNvSpPr>
          <p:nvPr/>
        </p:nvSpPr>
        <p:spPr>
          <a:xfrm xmlns:a="http://schemas.openxmlformats.org/drawingml/2006/main">
            <a:off x="647700" y="3524250"/>
            <a:ext cx="3238500" cy="1390650"/>
          </a:xfrm>
          <a:prstGeom xmlns:a="http://schemas.openxmlformats.org/drawingml/2006/main" prst="roundRect">
            <a:avLst>
              <a:gd name="adj" fmla="val 8219"/>
            </a:avLst>
          </a:prstGeom>
          <a:solidFill xmlns:a="http://schemas.openxmlformats.org/drawingml/2006/main">
            <a:srgbClr val="143A5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6B59DE-C310-485C-A121-715B4B26C174}"/>
              </a:ext>
            </a:extLst>
          </p:cNvPr>
          <p:cNvSpPr>
            <a:spLocks xmlns:a="http://schemas.openxmlformats.org/drawingml/2006/main" noGrp="1"/>
          </p:cNvSpPr>
          <p:nvPr/>
        </p:nvSpPr>
        <p:spPr>
          <a:xfrm xmlns:a="http://schemas.openxmlformats.org/drawingml/2006/main">
            <a:off x="838200" y="3771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Reusable services</a:t>
            </a:r>
          </a:p>
        </p:txBody>
      </p:sp>
      <p:sp>
        <p:nvSpPr>
          <p:cNvPr id="5" name="">
            <a:extLst xmlns:a="http://schemas.openxmlformats.org/drawingml/2006/main">
              <a:ext uri="{FF2B5EF4-FFF2-40B4-BE49-F238E27FC236}">
                <a16:creationId xmlns:a16="http://schemas.microsoft.com/office/drawing/2014/main" id="{F26006D7-2C22-4BDC-BD2B-E627A9DBD6B1}"/>
              </a:ext>
            </a:extLst>
          </p:cNvPr>
          <p:cNvSpPr>
            <a:spLocks xmlns:a="http://schemas.openxmlformats.org/drawingml/2006/main" noGrp="1"/>
          </p:cNvSpPr>
          <p:nvPr/>
        </p:nvSpPr>
        <p:spPr>
          <a:xfrm xmlns:a="http://schemas.openxmlformats.org/drawingml/2006/main">
            <a:off x="838200" y="41719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BCD8E5"/>
                </a:solidFill>
              </a:defRPr>
            </a:pPr>
            <a:r>
              <a:rPr sz="1200" b="0">
                <a:solidFill>
                  <a:srgbClr val="BCD8E5"/>
                </a:solidFill>
              </a:rPr>
              <a:t>Predictive ML and RAG share governance and operations.</a:t>
            </a:r>
          </a:p>
        </p:txBody>
      </p:sp>
      <p:sp>
        <p:nvSpPr>
          <p:cNvPr id="6" name="">
            <a:extLst xmlns:a="http://schemas.openxmlformats.org/drawingml/2006/main">
              <a:ext uri="{FF2B5EF4-FFF2-40B4-BE49-F238E27FC236}">
                <a16:creationId xmlns:a16="http://schemas.microsoft.com/office/drawing/2014/main" id="{F35A4673-7F4C-4C90-BFCA-718D9768A7C2}"/>
              </a:ext>
            </a:extLst>
          </p:cNvPr>
          <p:cNvSpPr>
            <a:spLocks xmlns:a="http://schemas.openxmlformats.org/drawingml/2006/main" noGrp="1"/>
          </p:cNvSpPr>
          <p:nvPr/>
        </p:nvSpPr>
        <p:spPr>
          <a:xfrm xmlns:a="http://schemas.openxmlformats.org/drawingml/2006/main">
            <a:off x="4267200" y="3524250"/>
            <a:ext cx="3238500" cy="1390650"/>
          </a:xfrm>
          <a:prstGeom xmlns:a="http://schemas.openxmlformats.org/drawingml/2006/main" prst="roundRect">
            <a:avLst>
              <a:gd name="adj" fmla="val 8219"/>
            </a:avLst>
          </a:prstGeom>
          <a:solidFill xmlns:a="http://schemas.openxmlformats.org/drawingml/2006/main">
            <a:srgbClr val="143A5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BDD1E9-A7FE-4A63-AE0B-3874B4F2787E}"/>
              </a:ext>
            </a:extLst>
          </p:cNvPr>
          <p:cNvSpPr>
            <a:spLocks xmlns:a="http://schemas.openxmlformats.org/drawingml/2006/main" noGrp="1"/>
          </p:cNvSpPr>
          <p:nvPr/>
        </p:nvSpPr>
        <p:spPr>
          <a:xfrm xmlns:a="http://schemas.openxmlformats.org/drawingml/2006/main">
            <a:off x="4457700" y="3771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Deployment discipline</a:t>
            </a:r>
          </a:p>
        </p:txBody>
      </p:sp>
      <p:sp>
        <p:nvSpPr>
          <p:cNvPr id="8" name="">
            <a:extLst xmlns:a="http://schemas.openxmlformats.org/drawingml/2006/main">
              <a:ext uri="{FF2B5EF4-FFF2-40B4-BE49-F238E27FC236}">
                <a16:creationId xmlns:a16="http://schemas.microsoft.com/office/drawing/2014/main" id="{45ED3626-043D-497A-A7EA-AF38201A6A36}"/>
              </a:ext>
            </a:extLst>
          </p:cNvPr>
          <p:cNvSpPr>
            <a:spLocks xmlns:a="http://schemas.openxmlformats.org/drawingml/2006/main" noGrp="1"/>
          </p:cNvSpPr>
          <p:nvPr/>
        </p:nvSpPr>
        <p:spPr>
          <a:xfrm xmlns:a="http://schemas.openxmlformats.org/drawingml/2006/main">
            <a:off x="4457700" y="41719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BCD8E5"/>
                </a:solidFill>
              </a:defRPr>
            </a:pPr>
            <a:r>
              <a:rPr sz="1200" b="0">
                <a:solidFill>
                  <a:srgbClr val="BCD8E5"/>
                </a:solidFill>
              </a:rPr>
              <a:t>Approval gates, safe rollout, observability, and rollback.</a:t>
            </a:r>
          </a:p>
        </p:txBody>
      </p:sp>
      <p:sp>
        <p:nvSpPr>
          <p:cNvPr id="9" name="">
            <a:extLst xmlns:a="http://schemas.openxmlformats.org/drawingml/2006/main">
              <a:ext uri="{FF2B5EF4-FFF2-40B4-BE49-F238E27FC236}">
                <a16:creationId xmlns:a16="http://schemas.microsoft.com/office/drawing/2014/main" id="{02ECB1B2-2195-4FCB-92A2-EF5A6B7AE7F8}"/>
              </a:ext>
            </a:extLst>
          </p:cNvPr>
          <p:cNvSpPr>
            <a:spLocks xmlns:a="http://schemas.openxmlformats.org/drawingml/2006/main" noGrp="1"/>
          </p:cNvSpPr>
          <p:nvPr/>
        </p:nvSpPr>
        <p:spPr>
          <a:xfrm xmlns:a="http://schemas.openxmlformats.org/drawingml/2006/main">
            <a:off x="7886700" y="3524250"/>
            <a:ext cx="3238500" cy="1390650"/>
          </a:xfrm>
          <a:prstGeom xmlns:a="http://schemas.openxmlformats.org/drawingml/2006/main" prst="roundRect">
            <a:avLst>
              <a:gd name="adj" fmla="val 8219"/>
            </a:avLst>
          </a:prstGeom>
          <a:solidFill xmlns:a="http://schemas.openxmlformats.org/drawingml/2006/main">
            <a:srgbClr val="143A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C08483-CA5B-4090-A8FD-CCAEDD71BD9D}"/>
              </a:ext>
            </a:extLst>
          </p:cNvPr>
          <p:cNvSpPr>
            <a:spLocks xmlns:a="http://schemas.openxmlformats.org/drawingml/2006/main" noGrp="1"/>
          </p:cNvSpPr>
          <p:nvPr/>
        </p:nvSpPr>
        <p:spPr>
          <a:xfrm xmlns:a="http://schemas.openxmlformats.org/drawingml/2006/main">
            <a:off x="8077200" y="3771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Payer operations fit</a:t>
            </a:r>
          </a:p>
        </p:txBody>
      </p:sp>
      <p:sp>
        <p:nvSpPr>
          <p:cNvPr id="11" name="">
            <a:extLst xmlns:a="http://schemas.openxmlformats.org/drawingml/2006/main">
              <a:ext uri="{FF2B5EF4-FFF2-40B4-BE49-F238E27FC236}">
                <a16:creationId xmlns:a16="http://schemas.microsoft.com/office/drawing/2014/main" id="{93BCCCA6-95A2-4E5D-8D3E-52DA736F124B}"/>
              </a:ext>
            </a:extLst>
          </p:cNvPr>
          <p:cNvSpPr>
            <a:spLocks xmlns:a="http://schemas.openxmlformats.org/drawingml/2006/main" noGrp="1"/>
          </p:cNvSpPr>
          <p:nvPr/>
        </p:nvSpPr>
        <p:spPr>
          <a:xfrm xmlns:a="http://schemas.openxmlformats.org/drawingml/2006/main">
            <a:off x="8077200" y="41719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BCD8E5"/>
                </a:solidFill>
              </a:defRPr>
            </a:pPr>
            <a:r>
              <a:rPr sz="1200" b="0">
                <a:solidFill>
                  <a:srgbClr val="BCD8E5"/>
                </a:solidFill>
              </a:rPr>
              <a:t>Built for complex workflows, human review, and traceability.</a:t>
            </a:r>
          </a:p>
        </p:txBody>
      </p:sp>
      <p:sp>
        <p:nvSpPr>
          <p:cNvPr id="12" name="">
            <a:extLst xmlns:a="http://schemas.openxmlformats.org/drawingml/2006/main">
              <a:ext uri="{FF2B5EF4-FFF2-40B4-BE49-F238E27FC236}">
                <a16:creationId xmlns:a16="http://schemas.microsoft.com/office/drawing/2014/main" id="{B595FE2A-A73E-4F11-84CD-BAFF2B21FB1A}"/>
              </a:ext>
            </a:extLst>
          </p:cNvPr>
          <p:cNvSpPr>
            <a:spLocks xmlns:a="http://schemas.openxmlformats.org/drawingml/2006/main" noGrp="1"/>
          </p:cNvSpPr>
          <p:nvPr/>
        </p:nvSpPr>
        <p:spPr>
          <a:xfrm xmlns:a="http://schemas.openxmlformats.org/drawingml/2006/main">
            <a:off x="647700" y="58102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9CD9D4"/>
                </a:solidFill>
              </a:defRPr>
            </a:pPr>
            <a:r>
              <a:rPr sz="1500" b="1">
                <a:solidFill>
                  <a:srgbClr val="9CD9D4"/>
                </a:solidFill>
              </a:rPr>
              <a:t>Discussion paths: governance · MLOps rollout safety · RAG loops · Azure operations</a:t>
            </a:r>
          </a:p>
        </p:txBody>
      </p:sp>
    </p:spTree>
    <p:extLst>
      <p:ext uri="{BB962C8B-B14F-4D97-AF65-F5344CB8AC3E}">
        <p14:creationId xmlns:p14="http://schemas.microsoft.com/office/powerpoint/2010/main" val="19962120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2026-06-24T22:16:49.4630000Z</dcterms:created>
  <dcterms:modified xsi:type="dcterms:W3CDTF">2026-06-24T22:16:49.4630000Z</dcterms:modified>
</coreProperties>
</file>